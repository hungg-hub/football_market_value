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6750" autoAdjust="0"/>
  </p:normalViewPr>
  <p:slideViewPr>
    <p:cSldViewPr snapToGrid="0" snapToObjects="1">
      <p:cViewPr varScale="1">
        <p:scale>
          <a:sx n="46" d="100"/>
          <a:sy n="46" d="100"/>
        </p:scale>
        <p:origin x="2069" y="53"/>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55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"Let’s address the core problem. Every single year, professional football clubs spend hundreds of millions of euros on player transfers. Yet, traditional asset valuation remains dangerously subjective, frequently driven by media hype, agent negotiation leverage, or a player's historic reputation rather than actual on-pitch contribution."</a:t>
            </a:r>
            <a:endParaRPr lang="en-US" dirty="0"/>
          </a:p>
          <a:p>
            <a:r>
              <a:rPr lang="en-US" b="1" dirty="0"/>
              <a:t>"As a Digital Business student, I framed this issue as a classic market inefficiency. We asked ourselves two fundamental questions: First, can we build an objective machine learning model to estimate a player's true worth based strictly on physical profiles and match stats? And second, where are the market's blind spots? Can our model automatically surface breakout targets that the market is currently undervaluing?"</a:t>
            </a:r>
            <a:endParaRPr lang="en-US" dirty="0"/>
          </a:p>
          <a:p>
            <a:r>
              <a:rPr lang="en-US" b="1" dirty="0"/>
              <a:t>"Our precise project objective was to ingest real-world performance statistics, preprocess and aggregate the data streams, train and validate four distinct machine learning regressors, and deploy a residual engine to locate value-optimized acquisition targets for professional squads."</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"To achieve this, we leveraged a highly relational open-source 'data lake' sourced directly from </a:t>
            </a:r>
            <a:r>
              <a:rPr lang="en-US" b="1" dirty="0" err="1"/>
              <a:t>Transfermarkt</a:t>
            </a:r>
            <a:r>
              <a:rPr lang="en-US" b="1" dirty="0"/>
              <a:t>. Because data in isolation lacks value, we performed a relational inner join across two primary tables using the unique </a:t>
            </a:r>
            <a:r>
              <a:rPr lang="en-US" sz="1200" b="1" kern="1200" dirty="0" err="1">
                <a:solidFill>
                  <a:schemeClr val="tx1"/>
                </a:solidFill>
                <a:latin typeface="+mn-lt"/>
                <a:ea typeface="+mn-ea"/>
                <a:cs typeface="+mn-cs"/>
              </a:rPr>
              <a:t>player_id</a:t>
            </a:r>
            <a:r>
              <a:rPr lang="en-US" b="1" dirty="0"/>
              <a:t> attribute."</a:t>
            </a:r>
            <a:endParaRPr lang="en-US" dirty="0"/>
          </a:p>
          <a:p>
            <a:r>
              <a:rPr lang="en-US" b="1" dirty="0"/>
              <a:t>"From </a:t>
            </a:r>
            <a:r>
              <a:rPr lang="en-US" sz="1200" b="1" kern="1200" dirty="0" err="1">
                <a:solidFill>
                  <a:schemeClr val="tx1"/>
                </a:solidFill>
                <a:latin typeface="+mn-lt"/>
                <a:ea typeface="+mn-ea"/>
                <a:cs typeface="+mn-cs"/>
              </a:rPr>
              <a:t>players.csv</a:t>
            </a:r>
            <a:r>
              <a:rPr lang="en-US" b="1" dirty="0"/>
              <a:t>, we extracted base demographic profiles including </a:t>
            </a:r>
            <a:r>
              <a:rPr lang="en-US" sz="1200" b="1" kern="1200" dirty="0" err="1">
                <a:solidFill>
                  <a:schemeClr val="tx1"/>
                </a:solidFill>
                <a:latin typeface="+mn-lt"/>
                <a:ea typeface="+mn-ea"/>
                <a:cs typeface="+mn-cs"/>
              </a:rPr>
              <a:t>date_of_birth</a:t>
            </a:r>
            <a:r>
              <a:rPr lang="en-US" b="1" dirty="0"/>
              <a:t> and tactical </a:t>
            </a:r>
            <a:r>
              <a:rPr lang="en-US" sz="1200" b="1" kern="1200" dirty="0">
                <a:solidFill>
                  <a:schemeClr val="tx1"/>
                </a:solidFill>
                <a:latin typeface="+mn-lt"/>
                <a:ea typeface="+mn-ea"/>
                <a:cs typeface="+mn-cs"/>
              </a:rPr>
              <a:t>position</a:t>
            </a:r>
            <a:r>
              <a:rPr lang="en-US" b="1" dirty="0"/>
              <a:t>. From </a:t>
            </a:r>
            <a:r>
              <a:rPr lang="en-US" sz="1200" b="1" kern="1200" dirty="0" err="1">
                <a:solidFill>
                  <a:schemeClr val="tx1"/>
                </a:solidFill>
                <a:latin typeface="+mn-lt"/>
                <a:ea typeface="+mn-ea"/>
                <a:cs typeface="+mn-cs"/>
              </a:rPr>
              <a:t>appearances.csv</a:t>
            </a:r>
            <a:r>
              <a:rPr lang="en-US" b="1" dirty="0"/>
              <a:t>, we extracted core match event records, writing aggregation functions to calculate career totals for </a:t>
            </a:r>
            <a:r>
              <a:rPr lang="en-US" sz="1200" b="1" kern="1200" dirty="0">
                <a:solidFill>
                  <a:schemeClr val="tx1"/>
                </a:solidFill>
                <a:latin typeface="+mn-lt"/>
                <a:ea typeface="+mn-ea"/>
                <a:cs typeface="+mn-cs"/>
              </a:rPr>
              <a:t>goals</a:t>
            </a:r>
            <a:r>
              <a:rPr lang="en-US" b="1" dirty="0"/>
              <a:t>, </a:t>
            </a:r>
            <a:r>
              <a:rPr lang="en-US" sz="1200" b="1" kern="1200" dirty="0">
                <a:solidFill>
                  <a:schemeClr val="tx1"/>
                </a:solidFill>
                <a:latin typeface="+mn-lt"/>
                <a:ea typeface="+mn-ea"/>
                <a:cs typeface="+mn-cs"/>
              </a:rPr>
              <a:t>assists</a:t>
            </a:r>
            <a:r>
              <a:rPr lang="en-US" b="1" dirty="0"/>
              <a:t>, </a:t>
            </a:r>
            <a:r>
              <a:rPr lang="en-US" sz="1200" b="1" kern="1200" dirty="0" err="1">
                <a:solidFill>
                  <a:schemeClr val="tx1"/>
                </a:solidFill>
                <a:latin typeface="+mn-lt"/>
                <a:ea typeface="+mn-ea"/>
                <a:cs typeface="+mn-cs"/>
              </a:rPr>
              <a:t>minutes_played</a:t>
            </a:r>
            <a:r>
              <a:rPr lang="en-US" b="1" dirty="0"/>
              <a:t>, and disciplinary </a:t>
            </a:r>
            <a:r>
              <a:rPr lang="en-US" sz="1200" b="1" kern="1200" dirty="0" err="1">
                <a:solidFill>
                  <a:schemeClr val="tx1"/>
                </a:solidFill>
                <a:latin typeface="+mn-lt"/>
                <a:ea typeface="+mn-ea"/>
                <a:cs typeface="+mn-cs"/>
              </a:rPr>
              <a:t>yellow_cards</a:t>
            </a:r>
            <a:r>
              <a:rPr lang="en-US" b="1" dirty="0"/>
              <a:t> per player."</a:t>
            </a:r>
            <a:endParaRPr lang="en-US" dirty="0"/>
          </a:p>
          <a:p>
            <a:r>
              <a:rPr lang="en-US" b="1" dirty="0"/>
              <a:t>"During the data preparation phase, rows containing missing targets or incomplete performance variables were systematically dropped. We calculated absolute numerical age from the birth dates, and applied One-Hot Encoding to the categorical </a:t>
            </a:r>
            <a:r>
              <a:rPr lang="en-US" sz="1200" b="1" kern="1200" dirty="0">
                <a:solidFill>
                  <a:schemeClr val="tx1"/>
                </a:solidFill>
                <a:latin typeface="+mn-lt"/>
                <a:ea typeface="+mn-ea"/>
                <a:cs typeface="+mn-cs"/>
              </a:rPr>
              <a:t>position</a:t>
            </a:r>
            <a:r>
              <a:rPr lang="en-US" b="1" dirty="0"/>
              <a:t> column, dropping the first category to avoid multi-collinearity errors. Finally, the data was partitioned sequentially into an 80% training split and a 20% test split to guarantee rigorous out-of-sample testing.“ </a:t>
            </a:r>
          </a:p>
          <a:p>
            <a:r>
              <a:rPr lang="en-US" dirty="0"/>
              <a:t>we use an 80/20 split to strictly isolate a validation 'answer key' that the model never sees during training. This out-of-sample partition is the only way to calculate an unbiased </a:t>
            </a:r>
            <a:r>
              <a:rPr lang="en-US" sz="1200" kern="1200" dirty="0">
                <a:solidFill>
                  <a:schemeClr val="tx1"/>
                </a:solidFill>
                <a:effectLst/>
                <a:latin typeface="+mn-lt"/>
                <a:ea typeface="+mn-ea"/>
                <a:cs typeface="+mn-cs"/>
              </a:rPr>
              <a:t>$R^2$</a:t>
            </a:r>
            <a:r>
              <a:rPr lang="en-US" dirty="0"/>
              <a:t> score and diagnose whether the model is generalizing real football metrics or simply memorizing training noise.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diagram visualizes our complete end-to-end Data Science framework, directly mirroring the structural guidelines taught throughout this semester. We moved methodically from loading and relational tabular merging, through clean feature transformations and exploratory visualizations." </a:t>
            </a:r>
          </a:p>
          <a:p>
            <a:r>
              <a:rPr lang="en-US" sz="1200" b="1" kern="1200" dirty="0">
                <a:solidFill>
                  <a:schemeClr val="tx1"/>
                </a:solidFill>
                <a:effectLst/>
                <a:latin typeface="+mn-lt"/>
                <a:ea typeface="+mn-ea"/>
                <a:cs typeface="+mn-cs"/>
              </a:rPr>
              <a:t>"From there, we initiated a sequential training pipeline across four distinct model architectures: Ridge Regression, Random Forest, Gradient Boosting, and Support Vector Regression. After running diagnostic checks for cross-validation and overfitting, we selected our champion model and applied it to a real-world business intelligence application to identify asset undervalued anomalies."</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"Moving into our Exploratory Data Analysis, our first visualization maps out the direct relationship between a player's age and their market valuation. As you can see from the non-linear regression curve, market value naturally peaks when a player enters their mid-to-late 20s, which perfectly mirrors real-world scouting intuition."</a:t>
            </a:r>
            <a:endParaRPr lang="en-US" dirty="0"/>
          </a:p>
          <a:p>
            <a:r>
              <a:rPr lang="en-US" b="1" dirty="0"/>
              <a:t>"Crucially, we notice an extreme tightening of values for very young prospects, followed by a wide variance among older veterans where a select few retain elite financial valuations. From a machine learning perspective, this explicit curve provides clear proof that the relationship is inherently non-linear, telling us right away that simple linear models will fail, and motivating the use of tree-based ensemble architectures."</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"Our second EDA plot is a feature correlation heatmap to evaluate which performance metrics strongly move the needle on financial value. The data reveals that </a:t>
            </a:r>
            <a:r>
              <a:rPr lang="en-US" sz="1200" b="1" kern="1200" dirty="0" err="1">
                <a:solidFill>
                  <a:schemeClr val="tx1"/>
                </a:solidFill>
                <a:latin typeface="+mn-lt"/>
                <a:ea typeface="+mn-ea"/>
                <a:cs typeface="+mn-cs"/>
              </a:rPr>
              <a:t>minutes_played</a:t>
            </a:r>
            <a:r>
              <a:rPr lang="en-US" b="1" dirty="0"/>
              <a:t> and direct </a:t>
            </a:r>
            <a:r>
              <a:rPr lang="en-US" sz="1200" b="1" kern="1200" dirty="0">
                <a:solidFill>
                  <a:schemeClr val="tx1"/>
                </a:solidFill>
                <a:latin typeface="+mn-lt"/>
                <a:ea typeface="+mn-ea"/>
                <a:cs typeface="+mn-cs"/>
              </a:rPr>
              <a:t>goals</a:t>
            </a:r>
            <a:r>
              <a:rPr lang="en-US" b="1" dirty="0"/>
              <a:t> command the absolute strongest positive linear correlations with a player's price tag."</a:t>
            </a:r>
            <a:endParaRPr lang="en-US" dirty="0"/>
          </a:p>
          <a:p>
            <a:r>
              <a:rPr lang="en-US" b="1" dirty="0"/>
              <a:t>"Interestingly, while </a:t>
            </a:r>
            <a:r>
              <a:rPr lang="en-US" sz="1200" b="1" kern="1200" dirty="0">
                <a:solidFill>
                  <a:schemeClr val="tx1"/>
                </a:solidFill>
                <a:latin typeface="+mn-lt"/>
                <a:ea typeface="+mn-ea"/>
                <a:cs typeface="+mn-cs"/>
              </a:rPr>
              <a:t>assists</a:t>
            </a:r>
            <a:r>
              <a:rPr lang="en-US" b="1" dirty="0"/>
              <a:t> are highly valuable, they demonstrate a noticeably weaker correlation to value than direct goal scoring. Furthermore, we can see that </a:t>
            </a:r>
            <a:r>
              <a:rPr lang="en-US" sz="1200" b="1" kern="1200" dirty="0">
                <a:solidFill>
                  <a:schemeClr val="tx1"/>
                </a:solidFill>
                <a:latin typeface="+mn-lt"/>
                <a:ea typeface="+mn-ea"/>
                <a:cs typeface="+mn-cs"/>
              </a:rPr>
              <a:t>age</a:t>
            </a:r>
            <a:r>
              <a:rPr lang="en-US" b="1" dirty="0"/>
              <a:t> maintains an incredibly weak linear correlation coefficient close to zero. This does not mean age doesn't matter; it simply re-confirms our finding from the previous slide that age interacts with valuation in a strict, non-linear inverted U-shape curve, which traditional linear correlation calculations cannot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"Now let's examine our model development and evaluation phase. When we juxtaposed our four regressors, the regularized linear baseline, Ridge Regression, completely struggled, yielding a low $R^2$ score of just 0.1582. This mathematically proves that linear frameworks cannot handle the non-linear realities of sports asset pricing."</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"In contrast, our non-linear tree models—Random Forest and Gradient Boosting—performed exceptionally well, capturing over 55% of the true valuation variance on unseen test data, and cutting our Mean Absolute Error down significantly. This is a massive improvement over our baseline.“</a:t>
            </a:r>
          </a:p>
          <a:p>
            <a:endParaRPr lang="en-US" sz="1200" b="1" kern="1200" dirty="0">
              <a:solidFill>
                <a:schemeClr val="tx1"/>
              </a:solidFill>
              <a:effectLst/>
              <a:latin typeface="+mn-lt"/>
              <a:ea typeface="+mn-ea"/>
              <a:cs typeface="+mn-cs"/>
            </a:endParaRPr>
          </a:p>
          <a:p>
            <a:r>
              <a:rPr lang="en-US" dirty="0"/>
              <a:t>explain what lives in the remaining 45% of the variance. In economics, this is known as handling </a:t>
            </a:r>
            <a:r>
              <a:rPr lang="en-US" b="1" dirty="0"/>
              <a:t>omitted variables</a:t>
            </a:r>
            <a:r>
              <a:rPr lang="en-US" dirty="0"/>
              <a:t>—factors that deeply influence a player's price tag but are completely invisible to your raw dataset.</a:t>
            </a:r>
          </a:p>
          <a:p>
            <a:r>
              <a:rPr lang="en-US" b="1" dirty="0"/>
              <a:t>Contractual Leverage:</a:t>
            </a:r>
            <a:r>
              <a:rPr lang="en-US" dirty="0"/>
              <a:t> A player with 5 years left on their contract is worth vastly more to a club than a player with only 3 months left, even if their goals and assists are identical.</a:t>
            </a:r>
          </a:p>
          <a:p>
            <a:r>
              <a:rPr lang="en-US" b="1" dirty="0"/>
              <a:t>Commercial &amp; Brand Value:</a:t>
            </a:r>
            <a:r>
              <a:rPr lang="en-US" dirty="0"/>
              <a:t> Players command massive valuation premiums based on shirt sales, social media followers, and global marketing power (e.g., the "Neymar or Ronaldo effect").</a:t>
            </a:r>
          </a:p>
          <a:p>
            <a:r>
              <a:rPr lang="en-US" b="1" dirty="0"/>
              <a:t>The Buyer's Wealth:</a:t>
            </a:r>
            <a:r>
              <a:rPr lang="en-US" dirty="0"/>
              <a:t> If a rich English Premier League club wants a player, the selling club instantly inflates the price because they know the buyer has deep pockets.</a:t>
            </a:r>
          </a:p>
          <a:p>
            <a:r>
              <a:rPr lang="en-US" b="1" dirty="0"/>
              <a:t>Injury History &amp; Hype:</a:t>
            </a:r>
            <a:r>
              <a:rPr lang="en-US" dirty="0"/>
              <a:t> Soft factors, like a player being hyped by the media or having a history of knee problems, cause real-world values to swing wildly away from pure performance metrics.</a:t>
            </a:r>
          </a:p>
          <a:p>
            <a:r>
              <a:rPr lang="en-US" dirty="0"/>
              <a:t>Because your dataset doesn't track contracts, Instagram followers, or club bank accounts, your model </a:t>
            </a:r>
            <a:r>
              <a:rPr lang="en-US" i="1" dirty="0"/>
              <a:t>should not</a:t>
            </a:r>
            <a:r>
              <a:rPr lang="en-US" dirty="0"/>
              <a:t> score 90%. If it did, it would mean your model was overfitting or catching fake patterns.</a:t>
            </a:r>
          </a:p>
          <a:p>
            <a:endParaRPr lang="en-US" sz="1200" b="1"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"However, our initial diagnostic check caught a significant data science trap: our Random Forest was heavily overfitting, showing a massive training $R^2$ of 0.9189 but a test score of 0.5518. To fix this, I adjusted the hyperparameters by pruning the trees—limiting </a:t>
            </a:r>
            <a:r>
              <a:rPr lang="en-US" sz="1200" b="1" kern="1200" dirty="0" err="1">
                <a:solidFill>
                  <a:schemeClr val="tx1"/>
                </a:solidFill>
                <a:effectLst/>
                <a:latin typeface="+mn-lt"/>
                <a:ea typeface="+mn-ea"/>
                <a:cs typeface="+mn-cs"/>
              </a:rPr>
              <a:t>max_depth</a:t>
            </a:r>
            <a:r>
              <a:rPr lang="en-US" sz="1200" b="1" kern="1200" dirty="0">
                <a:solidFill>
                  <a:schemeClr val="tx1"/>
                </a:solidFill>
                <a:effectLst/>
                <a:latin typeface="+mn-lt"/>
                <a:ea typeface="+mn-ea"/>
                <a:cs typeface="+mn-cs"/>
              </a:rPr>
              <a:t> to 8 and setting a minimum sample leaf size. As you can see from the metrics, this dropped our training score to a realistic 0.6722 while keeping our test score steady at 0.5518. This successfully shrank our performance gap from a risky 36% to a highly resilient, generalized, and healthy 12% margin."</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"To conclude, we transitioned our optimized model into a real-world business application by running a residual analysis on the testing pool. When our model predicts a value significantly higher than a player's actual market listing, it uncovers a clear valuation inefficiency.“  </a:t>
            </a:r>
            <a:endParaRPr lang="en-US" dirty="0"/>
          </a:p>
          <a:p>
            <a:r>
              <a:rPr lang="en-US" b="1" dirty="0"/>
              <a:t>"Here are our top 5 model-identified undervalued targets. For instance, the engine flagged Konstantin </a:t>
            </a:r>
            <a:r>
              <a:rPr lang="en-US" b="1" dirty="0" err="1"/>
              <a:t>Tyukavin</a:t>
            </a:r>
            <a:r>
              <a:rPr lang="en-US" b="1" dirty="0"/>
              <a:t>, who is currently listed at €17 Million, but whose on-field performance metrics predict a true output worth of over €66 Million—uncovering a massive €49 Million value gap. The same applies to the rest of our shortlist, highlighting players like Jonathan David and Nazar Voloshyn."</a:t>
            </a:r>
            <a:endParaRPr lang="en-US" dirty="0"/>
          </a:p>
          <a:p>
            <a:r>
              <a:rPr lang="en-US" b="1" dirty="0"/>
              <a:t>"Of course, a brief data caveat: this model operates entirely on historical on-pitch totals and cannot track live injury context or remaining contract terms. However, as an innovation tool for a digital sports business, this engine serves as a brilliant, objective screening mechanism to minimize transfer risk and build highly optimized, sustainable player portfolios."</a:t>
            </a:r>
            <a:endParaRPr lang="en-US" dirty="0"/>
          </a:p>
          <a:p>
            <a:r>
              <a:rPr lang="en-US" b="1" dirty="0"/>
              <a:t>"Thank you very much for your time. I am now open to any questions you may have regarding our methodology or findings."</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png"/><Relationship Id="rId7"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2E"/>
        </a:solidFill>
        <a:effectLst/>
      </p:bgPr>
    </p:bg>
    <p:spTree>
      <p:nvGrpSpPr>
        <p:cNvPr id="1" name=""/>
        <p:cNvGrpSpPr/>
        <p:nvPr/>
      </p:nvGrpSpPr>
      <p:grpSpPr>
        <a:xfrm>
          <a:off x="0" y="0"/>
          <a:ext cx="0" cy="0"/>
          <a:chOff x="0" y="0"/>
          <a:chExt cx="0" cy="0"/>
        </a:xfrm>
      </p:grpSpPr>
      <p:sp>
        <p:nvSpPr>
          <p:cNvPr id="2" name="Shape 0"/>
          <p:cNvSpPr/>
          <p:nvPr/>
        </p:nvSpPr>
        <p:spPr>
          <a:xfrm>
            <a:off x="8778240" y="-2011680"/>
            <a:ext cx="6400800" cy="6400800"/>
          </a:xfrm>
          <a:prstGeom prst="ellipse">
            <a:avLst/>
          </a:prstGeom>
          <a:solidFill>
            <a:srgbClr val="1B4332">
              <a:alpha val="60000"/>
            </a:srgbClr>
          </a:solidFill>
          <a:ln/>
        </p:spPr>
        <p:txBody>
          <a:bodyPr/>
          <a:lstStyle/>
          <a:p>
            <a:endParaRPr lang="en-US"/>
          </a:p>
        </p:txBody>
      </p:sp>
      <p:sp>
        <p:nvSpPr>
          <p:cNvPr id="3" name="Shape 1"/>
          <p:cNvSpPr/>
          <p:nvPr/>
        </p:nvSpPr>
        <p:spPr>
          <a:xfrm>
            <a:off x="-2286000" y="4389120"/>
            <a:ext cx="5029200" cy="5029200"/>
          </a:xfrm>
          <a:prstGeom prst="ellipse">
            <a:avLst/>
          </a:prstGeom>
          <a:solidFill>
            <a:srgbClr val="40916C">
              <a:alpha val="25000"/>
            </a:srgbClr>
          </a:solidFill>
          <a:ln/>
        </p:spPr>
        <p:txBody>
          <a:bodyPr/>
          <a:lstStyle/>
          <a:p>
            <a:endParaRPr lang="en-US"/>
          </a:p>
        </p:txBody>
      </p:sp>
      <p:pic>
        <p:nvPicPr>
          <p:cNvPr id="4" name="Image 0" descr="icon_FaFutbol_D4A017.png"/>
          <p:cNvPicPr>
            <a:picLocks noChangeAspect="1"/>
          </p:cNvPicPr>
          <p:nvPr/>
        </p:nvPicPr>
        <p:blipFill>
          <a:blip r:embed="rId3"/>
          <a:stretch>
            <a:fillRect/>
          </a:stretch>
        </p:blipFill>
        <p:spPr>
          <a:xfrm>
            <a:off x="228600" y="182880"/>
            <a:ext cx="594360" cy="594360"/>
          </a:xfrm>
          <a:prstGeom prst="rect">
            <a:avLst/>
          </a:prstGeom>
        </p:spPr>
      </p:pic>
      <p:sp>
        <p:nvSpPr>
          <p:cNvPr id="5" name="Text 2"/>
          <p:cNvSpPr/>
          <p:nvPr/>
        </p:nvSpPr>
        <p:spPr>
          <a:xfrm>
            <a:off x="1285875" y="1047751"/>
            <a:ext cx="4552950" cy="1737360"/>
          </a:xfrm>
          <a:prstGeom prst="rect">
            <a:avLst/>
          </a:prstGeom>
          <a:noFill/>
          <a:ln/>
        </p:spPr>
        <p:txBody>
          <a:bodyPr wrap="square" lIns="0" tIns="0" rIns="0" bIns="0" rtlCol="0" anchor="t"/>
          <a:lstStyle/>
          <a:p>
            <a:pPr marL="0" indent="0" algn="l">
              <a:lnSpc>
                <a:spcPct val="105000"/>
              </a:lnSpc>
              <a:buNone/>
            </a:pPr>
            <a:r>
              <a:rPr lang="en-US" sz="4000" b="1" dirty="0">
                <a:solidFill>
                  <a:srgbClr val="FFFFFF"/>
                </a:solidFill>
                <a:latin typeface="Cambria" pitchFamily="34" charset="0"/>
                <a:ea typeface="Cambria" pitchFamily="34" charset="-122"/>
                <a:cs typeface="Cambria" pitchFamily="34" charset="-120"/>
              </a:rPr>
              <a:t>PREDICTING FOOTBALL PLAYER</a:t>
            </a:r>
            <a:endParaRPr lang="en-US" sz="4000" dirty="0"/>
          </a:p>
          <a:p>
            <a:pPr marL="0" indent="0" algn="l">
              <a:lnSpc>
                <a:spcPct val="105000"/>
              </a:lnSpc>
              <a:buNone/>
            </a:pPr>
            <a:r>
              <a:rPr lang="en-US" sz="4000" b="1" dirty="0">
                <a:solidFill>
                  <a:srgbClr val="FFFFFF"/>
                </a:solidFill>
                <a:latin typeface="Cambria" pitchFamily="34" charset="0"/>
                <a:ea typeface="Cambria" pitchFamily="34" charset="-122"/>
                <a:cs typeface="Cambria" pitchFamily="34" charset="-120"/>
              </a:rPr>
              <a:t>MARKET VALUE</a:t>
            </a:r>
            <a:endParaRPr lang="en-US" sz="4000" dirty="0"/>
          </a:p>
        </p:txBody>
      </p:sp>
      <p:sp>
        <p:nvSpPr>
          <p:cNvPr id="6" name="Text 3"/>
          <p:cNvSpPr/>
          <p:nvPr/>
        </p:nvSpPr>
        <p:spPr>
          <a:xfrm>
            <a:off x="1285875" y="3172779"/>
            <a:ext cx="3792050" cy="502920"/>
          </a:xfrm>
          <a:prstGeom prst="rect">
            <a:avLst/>
          </a:prstGeom>
          <a:noFill/>
          <a:ln/>
        </p:spPr>
        <p:txBody>
          <a:bodyPr wrap="square" lIns="0" tIns="0" rIns="0" bIns="0" rtlCol="0" anchor="ctr"/>
          <a:lstStyle/>
          <a:p>
            <a:pPr marL="0" indent="0" algn="l">
              <a:buNone/>
            </a:pPr>
            <a:r>
              <a:rPr lang="en-US" sz="1700" i="1" dirty="0">
                <a:solidFill>
                  <a:srgbClr val="CFE0D6"/>
                </a:solidFill>
                <a:latin typeface="Calibri" pitchFamily="34" charset="0"/>
                <a:ea typeface="Calibri" pitchFamily="34" charset="-122"/>
                <a:cs typeface="Calibri" pitchFamily="34" charset="-120"/>
              </a:rPr>
              <a:t>A machine-learning approach to valuing players from performance data</a:t>
            </a:r>
            <a:endParaRPr lang="en-US" sz="1700" dirty="0"/>
          </a:p>
        </p:txBody>
      </p:sp>
      <p:sp>
        <p:nvSpPr>
          <p:cNvPr id="7" name="Text 4"/>
          <p:cNvSpPr/>
          <p:nvPr/>
        </p:nvSpPr>
        <p:spPr>
          <a:xfrm>
            <a:off x="822960" y="5989320"/>
            <a:ext cx="8229600" cy="365760"/>
          </a:xfrm>
          <a:prstGeom prst="rect">
            <a:avLst/>
          </a:prstGeom>
          <a:noFill/>
          <a:ln/>
        </p:spPr>
        <p:txBody>
          <a:bodyPr wrap="square" lIns="0" tIns="0" rIns="0" bIns="0" rtlCol="0" anchor="ctr"/>
          <a:lstStyle/>
          <a:p>
            <a:pPr marL="0" indent="0" algn="l">
              <a:buNone/>
            </a:pPr>
            <a:r>
              <a:rPr lang="en-US" sz="1200" dirty="0">
                <a:solidFill>
                  <a:srgbClr val="8FB3A0"/>
                </a:solidFill>
                <a:latin typeface="Calibri" pitchFamily="34" charset="0"/>
                <a:ea typeface="Calibri" pitchFamily="34" charset="-122"/>
                <a:cs typeface="Calibri" pitchFamily="34" charset="-120"/>
              </a:rPr>
              <a:t>Final Presentation  •  Transfermarkt Dataset</a:t>
            </a:r>
            <a:endParaRPr lang="en-US" sz="1200" dirty="0"/>
          </a:p>
        </p:txBody>
      </p:sp>
      <p:sp>
        <p:nvSpPr>
          <p:cNvPr id="8" name="Text 3">
            <a:extLst>
              <a:ext uri="{FF2B5EF4-FFF2-40B4-BE49-F238E27FC236}">
                <a16:creationId xmlns:a16="http://schemas.microsoft.com/office/drawing/2014/main" id="{8CCA2B06-E07A-8E0E-4C35-1317FD27F098}"/>
              </a:ext>
            </a:extLst>
          </p:cNvPr>
          <p:cNvSpPr/>
          <p:nvPr/>
        </p:nvSpPr>
        <p:spPr>
          <a:xfrm>
            <a:off x="822960" y="5558789"/>
            <a:ext cx="8686800" cy="502920"/>
          </a:xfrm>
          <a:prstGeom prst="rect">
            <a:avLst/>
          </a:prstGeom>
          <a:noFill/>
          <a:ln/>
        </p:spPr>
        <p:txBody>
          <a:bodyPr wrap="square" lIns="0" tIns="0" rIns="0" bIns="0" rtlCol="0" anchor="ctr"/>
          <a:lstStyle/>
          <a:p>
            <a:pPr marL="0" indent="0" algn="l">
              <a:buNone/>
            </a:pPr>
            <a:r>
              <a:rPr lang="en-US" sz="1700" i="1" dirty="0">
                <a:solidFill>
                  <a:srgbClr val="CFE0D6"/>
                </a:solidFill>
                <a:latin typeface="Calibri" pitchFamily="34" charset="0"/>
                <a:ea typeface="Calibri" pitchFamily="34" charset="-122"/>
                <a:cs typeface="Calibri" pitchFamily="34" charset="-120"/>
              </a:rPr>
              <a:t>NGUYEN THE HUNG - 23229586</a:t>
            </a:r>
            <a:endParaRPr lang="en-US" sz="1700" dirty="0"/>
          </a:p>
        </p:txBody>
      </p:sp>
      <p:pic>
        <p:nvPicPr>
          <p:cNvPr id="9" name="Picture 8" descr="💸 TOP 6 Most Valuable Players in the World — 2025/26 Season The global  market is rising fast, and these six stars stand above everyone. ⭐🌍 From  explosive wingers to dominant midfield">
            <a:extLst>
              <a:ext uri="{FF2B5EF4-FFF2-40B4-BE49-F238E27FC236}">
                <a16:creationId xmlns:a16="http://schemas.microsoft.com/office/drawing/2014/main" id="{F489C6C7-4EF0-F083-53DA-7E364461A730}"/>
              </a:ext>
            </a:extLst>
          </p:cNvPr>
          <p:cNvPicPr>
            <a:picLocks noChangeAspect="1"/>
          </p:cNvPicPr>
          <p:nvPr/>
        </p:nvPicPr>
        <p:blipFill>
          <a:blip r:embed="rId4"/>
          <a:stretch>
            <a:fillRect/>
          </a:stretch>
        </p:blipFill>
        <p:spPr>
          <a:xfrm>
            <a:off x="6653360" y="1"/>
            <a:ext cx="5538640" cy="68475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2"/>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lIns="0" tIns="0" rIns="0" bIns="0" rtlCol="0" anchor="ctr"/>
          <a:lstStyle/>
          <a:p>
            <a:pPr marL="0" indent="0">
              <a:buNone/>
            </a:pPr>
            <a:r>
              <a:rPr lang="en-US" sz="3000" b="1" dirty="0">
                <a:solidFill>
                  <a:srgbClr val="1C2B24"/>
                </a:solidFill>
                <a:latin typeface="Cambria" pitchFamily="34" charset="0"/>
                <a:ea typeface="Cambria" pitchFamily="34" charset="-122"/>
                <a:cs typeface="Cambria" pitchFamily="34" charset="-120"/>
              </a:rPr>
              <a:t>Problem Statement</a:t>
            </a:r>
            <a:endParaRPr lang="en-US" sz="3000" dirty="0"/>
          </a:p>
        </p:txBody>
      </p:sp>
      <p:sp>
        <p:nvSpPr>
          <p:cNvPr id="3" name="Text 1"/>
          <p:cNvSpPr/>
          <p:nvPr/>
        </p:nvSpPr>
        <p:spPr>
          <a:xfrm>
            <a:off x="640080" y="1234440"/>
            <a:ext cx="6492240" cy="1371600"/>
          </a:xfrm>
          <a:prstGeom prst="rect">
            <a:avLst/>
          </a:prstGeom>
          <a:noFill/>
          <a:ln/>
        </p:spPr>
        <p:txBody>
          <a:bodyPr wrap="square" lIns="0" tIns="0" rIns="0" bIns="0" rtlCol="0" anchor="ctr"/>
          <a:lstStyle/>
          <a:p>
            <a:pPr marL="0" indent="0" algn="l">
              <a:lnSpc>
                <a:spcPct val="125000"/>
              </a:lnSpc>
              <a:buNone/>
            </a:pPr>
            <a:r>
              <a:rPr lang="en-US" sz="1500" dirty="0">
                <a:solidFill>
                  <a:srgbClr val="1C2B24"/>
                </a:solidFill>
                <a:latin typeface="Calibri" pitchFamily="34" charset="0"/>
                <a:ea typeface="Calibri" pitchFamily="34" charset="-122"/>
                <a:cs typeface="Calibri" pitchFamily="34" charset="-120"/>
              </a:rPr>
              <a:t>Football clubs spend hundreds of millions of euros on transfers every year, but player valuations are often driven by reputation, media hype, and negotiation leverage rather than measurable on-pitch performance.</a:t>
            </a:r>
            <a:endParaRPr lang="en-US" sz="1500" dirty="0"/>
          </a:p>
        </p:txBody>
      </p:sp>
      <p:sp>
        <p:nvSpPr>
          <p:cNvPr id="4" name="Shape 2"/>
          <p:cNvSpPr/>
          <p:nvPr/>
        </p:nvSpPr>
        <p:spPr>
          <a:xfrm>
            <a:off x="640080" y="2880360"/>
            <a:ext cx="502920" cy="502920"/>
          </a:xfrm>
          <a:prstGeom prst="ellipse">
            <a:avLst/>
          </a:prstGeom>
          <a:solidFill>
            <a:srgbClr val="1B4332"/>
          </a:solidFill>
          <a:ln/>
        </p:spPr>
        <p:txBody>
          <a:bodyPr/>
          <a:lstStyle/>
          <a:p>
            <a:endParaRPr lang="en-US"/>
          </a:p>
        </p:txBody>
      </p:sp>
      <p:pic>
        <p:nvPicPr>
          <p:cNvPr id="5" name="Image 0" descr="icon_FaBalanceScale_FFFFFF.png"/>
          <p:cNvPicPr>
            <a:picLocks noChangeAspect="1"/>
          </p:cNvPicPr>
          <p:nvPr/>
        </p:nvPicPr>
        <p:blipFill>
          <a:blip r:embed="rId3"/>
          <a:stretch>
            <a:fillRect/>
          </a:stretch>
        </p:blipFill>
        <p:spPr>
          <a:xfrm>
            <a:off x="758952" y="2999232"/>
            <a:ext cx="265176" cy="265176"/>
          </a:xfrm>
          <a:prstGeom prst="rect">
            <a:avLst/>
          </a:prstGeom>
        </p:spPr>
      </p:pic>
      <p:sp>
        <p:nvSpPr>
          <p:cNvPr id="6" name="Text 3"/>
          <p:cNvSpPr/>
          <p:nvPr/>
        </p:nvSpPr>
        <p:spPr>
          <a:xfrm>
            <a:off x="1371600" y="2834640"/>
            <a:ext cx="5760720" cy="365760"/>
          </a:xfrm>
          <a:prstGeom prst="rect">
            <a:avLst/>
          </a:prstGeom>
          <a:noFill/>
          <a:ln/>
        </p:spPr>
        <p:txBody>
          <a:bodyPr wrap="square" lIns="0" tIns="0" rIns="0" bIns="0" rtlCol="0" anchor="ctr"/>
          <a:lstStyle/>
          <a:p>
            <a:pPr marL="0" indent="0">
              <a:buNone/>
            </a:pPr>
            <a:r>
              <a:rPr lang="en-US" sz="1550" b="1" dirty="0">
                <a:solidFill>
                  <a:srgbClr val="1B4332"/>
                </a:solidFill>
                <a:latin typeface="Calibri" pitchFamily="34" charset="0"/>
                <a:ea typeface="Calibri" pitchFamily="34" charset="-122"/>
                <a:cs typeface="Calibri" pitchFamily="34" charset="-120"/>
              </a:rPr>
              <a:t>Can we model value objectively?</a:t>
            </a:r>
            <a:endParaRPr lang="en-US" sz="1550" dirty="0"/>
          </a:p>
        </p:txBody>
      </p:sp>
      <p:sp>
        <p:nvSpPr>
          <p:cNvPr id="7" name="Text 4"/>
          <p:cNvSpPr/>
          <p:nvPr/>
        </p:nvSpPr>
        <p:spPr>
          <a:xfrm>
            <a:off x="1371600" y="3200400"/>
            <a:ext cx="5760720" cy="548640"/>
          </a:xfrm>
          <a:prstGeom prst="rect">
            <a:avLst/>
          </a:prstGeom>
          <a:noFill/>
          <a:ln/>
        </p:spPr>
        <p:txBody>
          <a:bodyPr wrap="square" lIns="0" tIns="0" rIns="0" bIns="0" rtlCol="0" anchor="ctr"/>
          <a:lstStyle/>
          <a:p>
            <a:pPr marL="0" indent="0">
              <a:lnSpc>
                <a:spcPct val="115000"/>
              </a:lnSpc>
              <a:buNone/>
            </a:pPr>
            <a:r>
              <a:rPr lang="en-US" sz="1250" dirty="0">
                <a:solidFill>
                  <a:srgbClr val="5B6D63"/>
                </a:solidFill>
                <a:latin typeface="Calibri" pitchFamily="34" charset="0"/>
                <a:ea typeface="Calibri" pitchFamily="34" charset="-122"/>
                <a:cs typeface="Calibri" pitchFamily="34" charset="-120"/>
              </a:rPr>
              <a:t>Predict a player's market value from age and performance stats alone.</a:t>
            </a:r>
            <a:endParaRPr lang="en-US" sz="1250" dirty="0"/>
          </a:p>
        </p:txBody>
      </p:sp>
      <p:sp>
        <p:nvSpPr>
          <p:cNvPr id="8" name="Shape 5"/>
          <p:cNvSpPr/>
          <p:nvPr/>
        </p:nvSpPr>
        <p:spPr>
          <a:xfrm>
            <a:off x="640080" y="4023360"/>
            <a:ext cx="502920" cy="502920"/>
          </a:xfrm>
          <a:prstGeom prst="ellipse">
            <a:avLst/>
          </a:prstGeom>
          <a:solidFill>
            <a:srgbClr val="1B4332"/>
          </a:solidFill>
          <a:ln/>
        </p:spPr>
        <p:txBody>
          <a:bodyPr/>
          <a:lstStyle/>
          <a:p>
            <a:endParaRPr lang="en-US"/>
          </a:p>
        </p:txBody>
      </p:sp>
      <p:pic>
        <p:nvPicPr>
          <p:cNvPr id="9" name="Image 1" descr="icon_FaSearchDollar_FFFFFF.png"/>
          <p:cNvPicPr>
            <a:picLocks noChangeAspect="1"/>
          </p:cNvPicPr>
          <p:nvPr/>
        </p:nvPicPr>
        <p:blipFill>
          <a:blip r:embed="rId4"/>
          <a:stretch>
            <a:fillRect/>
          </a:stretch>
        </p:blipFill>
        <p:spPr>
          <a:xfrm>
            <a:off x="758952" y="4142232"/>
            <a:ext cx="265176" cy="265176"/>
          </a:xfrm>
          <a:prstGeom prst="rect">
            <a:avLst/>
          </a:prstGeom>
        </p:spPr>
      </p:pic>
      <p:sp>
        <p:nvSpPr>
          <p:cNvPr id="10" name="Text 6"/>
          <p:cNvSpPr/>
          <p:nvPr/>
        </p:nvSpPr>
        <p:spPr>
          <a:xfrm>
            <a:off x="1371600" y="3977640"/>
            <a:ext cx="5760720" cy="365760"/>
          </a:xfrm>
          <a:prstGeom prst="rect">
            <a:avLst/>
          </a:prstGeom>
          <a:noFill/>
          <a:ln/>
        </p:spPr>
        <p:txBody>
          <a:bodyPr wrap="square" lIns="0" tIns="0" rIns="0" bIns="0" rtlCol="0" anchor="ctr"/>
          <a:lstStyle/>
          <a:p>
            <a:pPr marL="0" indent="0">
              <a:buNone/>
            </a:pPr>
            <a:r>
              <a:rPr lang="en-US" sz="1550" b="1" dirty="0">
                <a:solidFill>
                  <a:srgbClr val="1B4332"/>
                </a:solidFill>
                <a:latin typeface="Calibri" pitchFamily="34" charset="0"/>
                <a:ea typeface="Calibri" pitchFamily="34" charset="-122"/>
                <a:cs typeface="Calibri" pitchFamily="34" charset="-120"/>
              </a:rPr>
              <a:t>Where are the market's blind spots?</a:t>
            </a:r>
            <a:endParaRPr lang="en-US" sz="1550" dirty="0"/>
          </a:p>
        </p:txBody>
      </p:sp>
      <p:sp>
        <p:nvSpPr>
          <p:cNvPr id="11" name="Text 7"/>
          <p:cNvSpPr/>
          <p:nvPr/>
        </p:nvSpPr>
        <p:spPr>
          <a:xfrm>
            <a:off x="1371600" y="4343400"/>
            <a:ext cx="5760720" cy="548640"/>
          </a:xfrm>
          <a:prstGeom prst="rect">
            <a:avLst/>
          </a:prstGeom>
          <a:noFill/>
          <a:ln/>
        </p:spPr>
        <p:txBody>
          <a:bodyPr wrap="square" lIns="0" tIns="0" rIns="0" bIns="0" rtlCol="0" anchor="ctr"/>
          <a:lstStyle/>
          <a:p>
            <a:pPr marL="0" indent="0">
              <a:lnSpc>
                <a:spcPct val="115000"/>
              </a:lnSpc>
              <a:buNone/>
            </a:pPr>
            <a:r>
              <a:rPr lang="en-US" sz="1250" dirty="0">
                <a:solidFill>
                  <a:srgbClr val="5B6D63"/>
                </a:solidFill>
                <a:latin typeface="Calibri" pitchFamily="34" charset="0"/>
                <a:ea typeface="Calibri" pitchFamily="34" charset="-122"/>
                <a:cs typeface="Calibri" pitchFamily="34" charset="-120"/>
              </a:rPr>
              <a:t>Identify players whose output suggests they are undervalued by the market.</a:t>
            </a:r>
            <a:endParaRPr lang="en-US" sz="1250" dirty="0"/>
          </a:p>
        </p:txBody>
      </p:sp>
      <p:sp>
        <p:nvSpPr>
          <p:cNvPr id="12" name="Shape 8"/>
          <p:cNvSpPr/>
          <p:nvPr/>
        </p:nvSpPr>
        <p:spPr>
          <a:xfrm>
            <a:off x="7635240" y="1243771"/>
            <a:ext cx="3931920" cy="4709160"/>
          </a:xfrm>
          <a:prstGeom prst="roundRect">
            <a:avLst>
              <a:gd name="adj" fmla="val 2791"/>
            </a:avLst>
          </a:prstGeom>
          <a:solidFill>
            <a:srgbClr val="0E3B2E"/>
          </a:solidFill>
          <a:ln/>
          <a:effectLst>
            <a:outerShdw blurRad="101600" dist="38100" dir="2700000" algn="bl" rotWithShape="0">
              <a:srgbClr val="000000">
                <a:alpha val="18000"/>
              </a:srgbClr>
            </a:outerShdw>
          </a:effectLst>
        </p:spPr>
        <p:txBody>
          <a:bodyPr/>
          <a:lstStyle/>
          <a:p>
            <a:endParaRPr lang="en-US" sz="2000" dirty="0"/>
          </a:p>
        </p:txBody>
      </p:sp>
      <p:pic>
        <p:nvPicPr>
          <p:cNvPr id="13" name="Image 2" descr="icon_FaBullseye_D4A017.png"/>
          <p:cNvPicPr>
            <a:picLocks noChangeAspect="1"/>
          </p:cNvPicPr>
          <p:nvPr/>
        </p:nvPicPr>
        <p:blipFill>
          <a:blip r:embed="rId5"/>
          <a:stretch>
            <a:fillRect/>
          </a:stretch>
        </p:blipFill>
        <p:spPr>
          <a:xfrm>
            <a:off x="8001000" y="1600200"/>
            <a:ext cx="502920" cy="502920"/>
          </a:xfrm>
          <a:prstGeom prst="rect">
            <a:avLst/>
          </a:prstGeom>
        </p:spPr>
      </p:pic>
      <p:sp>
        <p:nvSpPr>
          <p:cNvPr id="14" name="Text 9"/>
          <p:cNvSpPr/>
          <p:nvPr/>
        </p:nvSpPr>
        <p:spPr>
          <a:xfrm>
            <a:off x="8641080" y="1673352"/>
            <a:ext cx="2743200" cy="365760"/>
          </a:xfrm>
          <a:prstGeom prst="rect">
            <a:avLst/>
          </a:prstGeom>
          <a:noFill/>
          <a:ln/>
        </p:spPr>
        <p:txBody>
          <a:bodyPr wrap="square" lIns="0" tIns="0" rIns="0" bIns="0" rtlCol="0" anchor="ctr"/>
          <a:lstStyle/>
          <a:p>
            <a:pPr marL="0" indent="0">
              <a:buNone/>
            </a:pPr>
            <a:r>
              <a:rPr lang="en-US" sz="1300" b="1" kern="0" spc="100" dirty="0">
                <a:solidFill>
                  <a:srgbClr val="D4A017"/>
                </a:solidFill>
                <a:latin typeface="Calibri" pitchFamily="34" charset="0"/>
                <a:ea typeface="Calibri" pitchFamily="34" charset="-122"/>
                <a:cs typeface="Calibri" pitchFamily="34" charset="-120"/>
              </a:rPr>
              <a:t>PROJECT GOAL</a:t>
            </a:r>
            <a:endParaRPr lang="en-US" sz="1300" dirty="0"/>
          </a:p>
        </p:txBody>
      </p:sp>
      <p:sp>
        <p:nvSpPr>
          <p:cNvPr id="15" name="Text 10"/>
          <p:cNvSpPr/>
          <p:nvPr/>
        </p:nvSpPr>
        <p:spPr>
          <a:xfrm>
            <a:off x="7952232" y="2155371"/>
            <a:ext cx="3432048" cy="2743200"/>
          </a:xfrm>
          <a:prstGeom prst="rect">
            <a:avLst/>
          </a:prstGeom>
          <a:noFill/>
          <a:ln/>
        </p:spPr>
        <p:txBody>
          <a:bodyPr wrap="square" lIns="0" tIns="0" rIns="0" bIns="0" rtlCol="0" anchor="ctr"/>
          <a:lstStyle/>
          <a:p>
            <a:pPr marL="0" indent="0">
              <a:lnSpc>
                <a:spcPct val="130000"/>
              </a:lnSpc>
              <a:buNone/>
            </a:pPr>
            <a:r>
              <a:rPr lang="en-US" sz="1900" dirty="0">
                <a:solidFill>
                  <a:srgbClr val="F4F6F2"/>
                </a:solidFill>
                <a:latin typeface="Calibri" pitchFamily="34" charset="0"/>
                <a:ea typeface="Calibri" pitchFamily="34" charset="-122"/>
                <a:cs typeface="Calibri" pitchFamily="34" charset="-120"/>
              </a:rPr>
              <a:t>Build a regression model that predicts a player's market value (€) from age, goals, assists, minutes played, cards, and position — then use it to flag scouting targets the market may be undervaluing.</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2"/>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lIns="0" tIns="0" rIns="0" bIns="0" rtlCol="0" anchor="ctr"/>
          <a:lstStyle/>
          <a:p>
            <a:pPr marL="0" indent="0">
              <a:buNone/>
            </a:pPr>
            <a:r>
              <a:rPr lang="en-US" sz="3000" b="1" dirty="0">
                <a:solidFill>
                  <a:srgbClr val="1C2B24"/>
                </a:solidFill>
                <a:latin typeface="Cambria" pitchFamily="34" charset="0"/>
                <a:ea typeface="Cambria" pitchFamily="34" charset="-122"/>
                <a:cs typeface="Cambria" pitchFamily="34" charset="-120"/>
              </a:rPr>
              <a:t>Dataset Overview</a:t>
            </a:r>
            <a:endParaRPr lang="en-US" sz="3000" dirty="0"/>
          </a:p>
        </p:txBody>
      </p:sp>
      <p:sp>
        <p:nvSpPr>
          <p:cNvPr id="3" name="Text 1"/>
          <p:cNvSpPr/>
          <p:nvPr/>
        </p:nvSpPr>
        <p:spPr>
          <a:xfrm>
            <a:off x="640080" y="1051560"/>
            <a:ext cx="8229600" cy="365760"/>
          </a:xfrm>
          <a:prstGeom prst="rect">
            <a:avLst/>
          </a:prstGeom>
          <a:noFill/>
          <a:ln/>
        </p:spPr>
        <p:txBody>
          <a:bodyPr wrap="square" lIns="0" tIns="0" rIns="0" bIns="0" rtlCol="0" anchor="ctr"/>
          <a:lstStyle/>
          <a:p>
            <a:pPr marL="0" indent="0">
              <a:buNone/>
            </a:pPr>
            <a:r>
              <a:rPr lang="en-US" sz="1350" i="1" dirty="0">
                <a:solidFill>
                  <a:srgbClr val="5B6D63"/>
                </a:solidFill>
                <a:latin typeface="Calibri" pitchFamily="34" charset="0"/>
                <a:ea typeface="Calibri" pitchFamily="34" charset="-122"/>
                <a:cs typeface="Calibri" pitchFamily="34" charset="-120"/>
              </a:rPr>
              <a:t>Transfermarkt relational data — player profiles joined with match performance</a:t>
            </a:r>
            <a:endParaRPr lang="en-US" sz="1350" dirty="0"/>
          </a:p>
        </p:txBody>
      </p:sp>
      <p:sp>
        <p:nvSpPr>
          <p:cNvPr id="4" name="Shape 2"/>
          <p:cNvSpPr/>
          <p:nvPr/>
        </p:nvSpPr>
        <p:spPr>
          <a:xfrm>
            <a:off x="632616" y="1673726"/>
            <a:ext cx="4160520" cy="2514600"/>
          </a:xfrm>
          <a:prstGeom prst="roundRect">
            <a:avLst>
              <a:gd name="adj" fmla="val 3636"/>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5" name="Shape 3"/>
          <p:cNvSpPr/>
          <p:nvPr/>
        </p:nvSpPr>
        <p:spPr>
          <a:xfrm>
            <a:off x="914400" y="1920240"/>
            <a:ext cx="502920" cy="502920"/>
          </a:xfrm>
          <a:prstGeom prst="ellipse">
            <a:avLst/>
          </a:prstGeom>
          <a:solidFill>
            <a:srgbClr val="1B4332"/>
          </a:solidFill>
          <a:ln/>
        </p:spPr>
        <p:txBody>
          <a:bodyPr/>
          <a:lstStyle/>
          <a:p>
            <a:endParaRPr lang="en-US"/>
          </a:p>
        </p:txBody>
      </p:sp>
      <p:pic>
        <p:nvPicPr>
          <p:cNvPr id="6" name="Image 0" descr="icon_FaDatabase_FFFFFF.png"/>
          <p:cNvPicPr>
            <a:picLocks noChangeAspect="1"/>
          </p:cNvPicPr>
          <p:nvPr/>
        </p:nvPicPr>
        <p:blipFill>
          <a:blip r:embed="rId3"/>
          <a:stretch>
            <a:fillRect/>
          </a:stretch>
        </p:blipFill>
        <p:spPr>
          <a:xfrm>
            <a:off x="1033272" y="2039112"/>
            <a:ext cx="265176" cy="265176"/>
          </a:xfrm>
          <a:prstGeom prst="rect">
            <a:avLst/>
          </a:prstGeom>
        </p:spPr>
      </p:pic>
      <p:sp>
        <p:nvSpPr>
          <p:cNvPr id="7" name="Text 4"/>
          <p:cNvSpPr/>
          <p:nvPr/>
        </p:nvSpPr>
        <p:spPr>
          <a:xfrm>
            <a:off x="1554480" y="1901952"/>
            <a:ext cx="3017520" cy="320040"/>
          </a:xfrm>
          <a:prstGeom prst="rect">
            <a:avLst/>
          </a:prstGeom>
          <a:noFill/>
          <a:ln/>
        </p:spPr>
        <p:txBody>
          <a:bodyPr wrap="square" lIns="0" tIns="0" rIns="0" bIns="0" rtlCol="0" anchor="ctr"/>
          <a:lstStyle/>
          <a:p>
            <a:pPr marL="0" indent="0">
              <a:buNone/>
            </a:pPr>
            <a:r>
              <a:rPr lang="en-US" sz="1600" b="1" dirty="0">
                <a:solidFill>
                  <a:srgbClr val="1C2B24"/>
                </a:solidFill>
                <a:latin typeface="Calibri" pitchFamily="34" charset="0"/>
                <a:ea typeface="Calibri" pitchFamily="34" charset="-122"/>
                <a:cs typeface="Calibri" pitchFamily="34" charset="-120"/>
              </a:rPr>
              <a:t>players.csv</a:t>
            </a:r>
            <a:endParaRPr lang="en-US" sz="1600" dirty="0"/>
          </a:p>
        </p:txBody>
      </p:sp>
      <p:sp>
        <p:nvSpPr>
          <p:cNvPr id="8" name="Text 5"/>
          <p:cNvSpPr/>
          <p:nvPr/>
        </p:nvSpPr>
        <p:spPr>
          <a:xfrm>
            <a:off x="1554480" y="2212848"/>
            <a:ext cx="3017520" cy="274320"/>
          </a:xfrm>
          <a:prstGeom prst="rect">
            <a:avLst/>
          </a:prstGeom>
          <a:noFill/>
          <a:ln/>
        </p:spPr>
        <p:txBody>
          <a:bodyPr wrap="square" lIns="0" tIns="0" rIns="0" bIns="0" rtlCol="0" anchor="ctr"/>
          <a:lstStyle/>
          <a:p>
            <a:pPr marL="0" indent="0">
              <a:buNone/>
            </a:pPr>
            <a:r>
              <a:rPr lang="en-US" sz="1150" i="1" dirty="0">
                <a:solidFill>
                  <a:srgbClr val="5B6D63"/>
                </a:solidFill>
                <a:latin typeface="Calibri" pitchFamily="34" charset="0"/>
                <a:ea typeface="Calibri" pitchFamily="34" charset="-122"/>
                <a:cs typeface="Calibri" pitchFamily="34" charset="-120"/>
              </a:rPr>
              <a:t>Base profile data</a:t>
            </a:r>
            <a:endParaRPr lang="en-US" sz="1150" dirty="0"/>
          </a:p>
        </p:txBody>
      </p:sp>
      <p:sp>
        <p:nvSpPr>
          <p:cNvPr id="9" name="Text 6"/>
          <p:cNvSpPr/>
          <p:nvPr/>
        </p:nvSpPr>
        <p:spPr>
          <a:xfrm>
            <a:off x="960120" y="2697480"/>
            <a:ext cx="3566160" cy="274320"/>
          </a:xfrm>
          <a:prstGeom prst="rect">
            <a:avLst/>
          </a:prstGeom>
          <a:noFill/>
          <a:ln/>
        </p:spPr>
        <p:txBody>
          <a:bodyPr wrap="square" lIns="0" tIns="0" rIns="0" bIns="0" rtlCol="0" anchor="ctr"/>
          <a:lstStyle/>
          <a:p>
            <a:pPr marL="342900" indent="-342900">
              <a:buSzPct val="100000"/>
              <a:buChar char="•"/>
            </a:pPr>
            <a:r>
              <a:rPr lang="en-US" sz="1250" dirty="0">
                <a:solidFill>
                  <a:srgbClr val="1C2B24"/>
                </a:solidFill>
                <a:latin typeface="Calibri" pitchFamily="34" charset="0"/>
                <a:ea typeface="Calibri" pitchFamily="34" charset="-122"/>
                <a:cs typeface="Calibri" pitchFamily="34" charset="-120"/>
              </a:rPr>
              <a:t>player_id</a:t>
            </a:r>
            <a:endParaRPr lang="en-US" sz="1250" dirty="0"/>
          </a:p>
        </p:txBody>
      </p:sp>
      <p:sp>
        <p:nvSpPr>
          <p:cNvPr id="10" name="Text 7"/>
          <p:cNvSpPr/>
          <p:nvPr/>
        </p:nvSpPr>
        <p:spPr>
          <a:xfrm>
            <a:off x="960120" y="2999232"/>
            <a:ext cx="3566160" cy="274320"/>
          </a:xfrm>
          <a:prstGeom prst="rect">
            <a:avLst/>
          </a:prstGeom>
          <a:noFill/>
          <a:ln/>
        </p:spPr>
        <p:txBody>
          <a:bodyPr wrap="square" lIns="0" tIns="0" rIns="0" bIns="0" rtlCol="0" anchor="ctr"/>
          <a:lstStyle/>
          <a:p>
            <a:pPr marL="342900" indent="-342900">
              <a:buSzPct val="100000"/>
              <a:buChar char="•"/>
            </a:pPr>
            <a:r>
              <a:rPr lang="en-US" sz="1250" dirty="0">
                <a:solidFill>
                  <a:srgbClr val="1C2B24"/>
                </a:solidFill>
                <a:latin typeface="Calibri" pitchFamily="34" charset="0"/>
                <a:ea typeface="Calibri" pitchFamily="34" charset="-122"/>
                <a:cs typeface="Calibri" pitchFamily="34" charset="-120"/>
              </a:rPr>
              <a:t>name</a:t>
            </a:r>
            <a:endParaRPr lang="en-US" sz="1250" dirty="0"/>
          </a:p>
        </p:txBody>
      </p:sp>
      <p:sp>
        <p:nvSpPr>
          <p:cNvPr id="11" name="Text 8"/>
          <p:cNvSpPr/>
          <p:nvPr/>
        </p:nvSpPr>
        <p:spPr>
          <a:xfrm>
            <a:off x="960120" y="3300984"/>
            <a:ext cx="3566160" cy="274320"/>
          </a:xfrm>
          <a:prstGeom prst="rect">
            <a:avLst/>
          </a:prstGeom>
          <a:noFill/>
          <a:ln/>
        </p:spPr>
        <p:txBody>
          <a:bodyPr wrap="square" lIns="0" tIns="0" rIns="0" bIns="0" rtlCol="0" anchor="ctr"/>
          <a:lstStyle/>
          <a:p>
            <a:pPr marL="342900" indent="-342900">
              <a:buSzPct val="100000"/>
              <a:buChar char="•"/>
            </a:pPr>
            <a:r>
              <a:rPr lang="en-US" sz="1250" dirty="0">
                <a:solidFill>
                  <a:srgbClr val="1C2B24"/>
                </a:solidFill>
                <a:latin typeface="Calibri" pitchFamily="34" charset="0"/>
                <a:ea typeface="Calibri" pitchFamily="34" charset="-122"/>
                <a:cs typeface="Calibri" pitchFamily="34" charset="-120"/>
              </a:rPr>
              <a:t>date_of_birth</a:t>
            </a:r>
            <a:endParaRPr lang="en-US" sz="1250" dirty="0"/>
          </a:p>
        </p:txBody>
      </p:sp>
      <p:sp>
        <p:nvSpPr>
          <p:cNvPr id="12" name="Text 9"/>
          <p:cNvSpPr/>
          <p:nvPr/>
        </p:nvSpPr>
        <p:spPr>
          <a:xfrm>
            <a:off x="960120" y="3602736"/>
            <a:ext cx="3566160" cy="274320"/>
          </a:xfrm>
          <a:prstGeom prst="rect">
            <a:avLst/>
          </a:prstGeom>
          <a:noFill/>
          <a:ln/>
        </p:spPr>
        <p:txBody>
          <a:bodyPr wrap="square" lIns="0" tIns="0" rIns="0" bIns="0" rtlCol="0" anchor="ctr"/>
          <a:lstStyle/>
          <a:p>
            <a:pPr marL="342900" indent="-342900">
              <a:buSzPct val="100000"/>
              <a:buChar char="•"/>
            </a:pPr>
            <a:r>
              <a:rPr lang="en-US" sz="1250" dirty="0">
                <a:solidFill>
                  <a:srgbClr val="1C2B24"/>
                </a:solidFill>
                <a:latin typeface="Calibri" pitchFamily="34" charset="0"/>
                <a:ea typeface="Calibri" pitchFamily="34" charset="-122"/>
                <a:cs typeface="Calibri" pitchFamily="34" charset="-120"/>
              </a:rPr>
              <a:t>position</a:t>
            </a:r>
            <a:endParaRPr lang="en-US" sz="1250" dirty="0"/>
          </a:p>
        </p:txBody>
      </p:sp>
      <p:sp>
        <p:nvSpPr>
          <p:cNvPr id="13" name="Text 10"/>
          <p:cNvSpPr/>
          <p:nvPr/>
        </p:nvSpPr>
        <p:spPr>
          <a:xfrm>
            <a:off x="960120" y="3904488"/>
            <a:ext cx="3566160" cy="274320"/>
          </a:xfrm>
          <a:prstGeom prst="rect">
            <a:avLst/>
          </a:prstGeom>
          <a:noFill/>
          <a:ln/>
        </p:spPr>
        <p:txBody>
          <a:bodyPr wrap="square" lIns="0" tIns="0" rIns="0" bIns="0" rtlCol="0" anchor="ctr"/>
          <a:lstStyle/>
          <a:p>
            <a:pPr marL="342900" indent="-342900">
              <a:buSzPct val="100000"/>
              <a:buChar char="•"/>
            </a:pPr>
            <a:r>
              <a:rPr lang="en-US" sz="1250" dirty="0">
                <a:solidFill>
                  <a:srgbClr val="1C2B24"/>
                </a:solidFill>
                <a:latin typeface="Calibri" pitchFamily="34" charset="0"/>
                <a:ea typeface="Calibri" pitchFamily="34" charset="-122"/>
                <a:cs typeface="Calibri" pitchFamily="34" charset="-120"/>
              </a:rPr>
              <a:t>market_value_in_eur (target)</a:t>
            </a:r>
            <a:endParaRPr lang="en-US" sz="1250" dirty="0"/>
          </a:p>
        </p:txBody>
      </p:sp>
      <p:sp>
        <p:nvSpPr>
          <p:cNvPr id="14" name="Shape 11"/>
          <p:cNvSpPr/>
          <p:nvPr/>
        </p:nvSpPr>
        <p:spPr>
          <a:xfrm>
            <a:off x="5074920" y="1691640"/>
            <a:ext cx="4160520" cy="2514600"/>
          </a:xfrm>
          <a:prstGeom prst="roundRect">
            <a:avLst>
              <a:gd name="adj" fmla="val 3636"/>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15" name="Shape 12"/>
          <p:cNvSpPr/>
          <p:nvPr/>
        </p:nvSpPr>
        <p:spPr>
          <a:xfrm>
            <a:off x="5349240" y="1920240"/>
            <a:ext cx="502920" cy="502920"/>
          </a:xfrm>
          <a:prstGeom prst="ellipse">
            <a:avLst/>
          </a:prstGeom>
          <a:solidFill>
            <a:srgbClr val="1B4332"/>
          </a:solidFill>
          <a:ln/>
        </p:spPr>
        <p:txBody>
          <a:bodyPr/>
          <a:lstStyle/>
          <a:p>
            <a:endParaRPr lang="en-US"/>
          </a:p>
        </p:txBody>
      </p:sp>
      <p:pic>
        <p:nvPicPr>
          <p:cNvPr id="16" name="Image 1" descr="icon_FaChartLine_FFFFFF.png"/>
          <p:cNvPicPr>
            <a:picLocks noChangeAspect="1"/>
          </p:cNvPicPr>
          <p:nvPr/>
        </p:nvPicPr>
        <p:blipFill>
          <a:blip r:embed="rId4"/>
          <a:stretch>
            <a:fillRect/>
          </a:stretch>
        </p:blipFill>
        <p:spPr>
          <a:xfrm>
            <a:off x="5468112" y="2039112"/>
            <a:ext cx="265176" cy="265176"/>
          </a:xfrm>
          <a:prstGeom prst="rect">
            <a:avLst/>
          </a:prstGeom>
        </p:spPr>
      </p:pic>
      <p:sp>
        <p:nvSpPr>
          <p:cNvPr id="17" name="Text 13"/>
          <p:cNvSpPr/>
          <p:nvPr/>
        </p:nvSpPr>
        <p:spPr>
          <a:xfrm>
            <a:off x="5989320" y="1901952"/>
            <a:ext cx="3017520" cy="320040"/>
          </a:xfrm>
          <a:prstGeom prst="rect">
            <a:avLst/>
          </a:prstGeom>
          <a:noFill/>
          <a:ln/>
        </p:spPr>
        <p:txBody>
          <a:bodyPr wrap="square" lIns="0" tIns="0" rIns="0" bIns="0" rtlCol="0" anchor="ctr"/>
          <a:lstStyle/>
          <a:p>
            <a:pPr marL="0" indent="0">
              <a:buNone/>
            </a:pPr>
            <a:r>
              <a:rPr lang="en-US" sz="1600" b="1" dirty="0">
                <a:solidFill>
                  <a:srgbClr val="1C2B24"/>
                </a:solidFill>
                <a:latin typeface="Calibri" pitchFamily="34" charset="0"/>
                <a:ea typeface="Calibri" pitchFamily="34" charset="-122"/>
                <a:cs typeface="Calibri" pitchFamily="34" charset="-120"/>
              </a:rPr>
              <a:t>appearances.csv</a:t>
            </a:r>
            <a:endParaRPr lang="en-US" sz="1600" dirty="0"/>
          </a:p>
        </p:txBody>
      </p:sp>
      <p:sp>
        <p:nvSpPr>
          <p:cNvPr id="18" name="Text 14"/>
          <p:cNvSpPr/>
          <p:nvPr/>
        </p:nvSpPr>
        <p:spPr>
          <a:xfrm>
            <a:off x="5989320" y="2212848"/>
            <a:ext cx="3017520" cy="274320"/>
          </a:xfrm>
          <a:prstGeom prst="rect">
            <a:avLst/>
          </a:prstGeom>
          <a:noFill/>
          <a:ln/>
        </p:spPr>
        <p:txBody>
          <a:bodyPr wrap="square" lIns="0" tIns="0" rIns="0" bIns="0" rtlCol="0" anchor="ctr"/>
          <a:lstStyle/>
          <a:p>
            <a:pPr marL="0" indent="0">
              <a:buNone/>
            </a:pPr>
            <a:r>
              <a:rPr lang="en-US" sz="1150" i="1" dirty="0">
                <a:solidFill>
                  <a:srgbClr val="5B6D63"/>
                </a:solidFill>
                <a:latin typeface="Calibri" pitchFamily="34" charset="0"/>
                <a:ea typeface="Calibri" pitchFamily="34" charset="-122"/>
                <a:cs typeface="Calibri" pitchFamily="34" charset="-120"/>
              </a:rPr>
              <a:t>Match performance events</a:t>
            </a:r>
            <a:endParaRPr lang="en-US" sz="1150" dirty="0"/>
          </a:p>
        </p:txBody>
      </p:sp>
      <p:sp>
        <p:nvSpPr>
          <p:cNvPr id="19" name="Text 15"/>
          <p:cNvSpPr/>
          <p:nvPr/>
        </p:nvSpPr>
        <p:spPr>
          <a:xfrm>
            <a:off x="5394960" y="2697480"/>
            <a:ext cx="3566160" cy="274320"/>
          </a:xfrm>
          <a:prstGeom prst="rect">
            <a:avLst/>
          </a:prstGeom>
          <a:noFill/>
          <a:ln/>
        </p:spPr>
        <p:txBody>
          <a:bodyPr wrap="square" lIns="0" tIns="0" rIns="0" bIns="0" rtlCol="0" anchor="ctr"/>
          <a:lstStyle/>
          <a:p>
            <a:pPr marL="342900" indent="-342900">
              <a:buSzPct val="100000"/>
              <a:buChar char="•"/>
            </a:pPr>
            <a:r>
              <a:rPr lang="en-US" sz="1250" dirty="0">
                <a:solidFill>
                  <a:srgbClr val="1C2B24"/>
                </a:solidFill>
                <a:latin typeface="Calibri" pitchFamily="34" charset="0"/>
                <a:ea typeface="Calibri" pitchFamily="34" charset="-122"/>
                <a:cs typeface="Calibri" pitchFamily="34" charset="-120"/>
              </a:rPr>
              <a:t>player_id</a:t>
            </a:r>
            <a:endParaRPr lang="en-US" sz="1250" dirty="0"/>
          </a:p>
        </p:txBody>
      </p:sp>
      <p:sp>
        <p:nvSpPr>
          <p:cNvPr id="20" name="Text 16"/>
          <p:cNvSpPr/>
          <p:nvPr/>
        </p:nvSpPr>
        <p:spPr>
          <a:xfrm>
            <a:off x="5394960" y="2999232"/>
            <a:ext cx="3566160" cy="274320"/>
          </a:xfrm>
          <a:prstGeom prst="rect">
            <a:avLst/>
          </a:prstGeom>
          <a:noFill/>
          <a:ln/>
        </p:spPr>
        <p:txBody>
          <a:bodyPr wrap="square" lIns="0" tIns="0" rIns="0" bIns="0" rtlCol="0" anchor="ctr"/>
          <a:lstStyle/>
          <a:p>
            <a:pPr marL="342900" indent="-342900">
              <a:buSzPct val="100000"/>
              <a:buChar char="•"/>
            </a:pPr>
            <a:r>
              <a:rPr lang="en-US" sz="1250" dirty="0">
                <a:solidFill>
                  <a:srgbClr val="1C2B24"/>
                </a:solidFill>
                <a:latin typeface="Calibri" pitchFamily="34" charset="0"/>
                <a:ea typeface="Calibri" pitchFamily="34" charset="-122"/>
                <a:cs typeface="Calibri" pitchFamily="34" charset="-120"/>
              </a:rPr>
              <a:t>goals</a:t>
            </a:r>
            <a:endParaRPr lang="en-US" sz="1250" dirty="0"/>
          </a:p>
        </p:txBody>
      </p:sp>
      <p:sp>
        <p:nvSpPr>
          <p:cNvPr id="21" name="Text 17"/>
          <p:cNvSpPr/>
          <p:nvPr/>
        </p:nvSpPr>
        <p:spPr>
          <a:xfrm>
            <a:off x="5394960" y="3300984"/>
            <a:ext cx="3566160" cy="274320"/>
          </a:xfrm>
          <a:prstGeom prst="rect">
            <a:avLst/>
          </a:prstGeom>
          <a:noFill/>
          <a:ln/>
        </p:spPr>
        <p:txBody>
          <a:bodyPr wrap="square" lIns="0" tIns="0" rIns="0" bIns="0" rtlCol="0" anchor="ctr"/>
          <a:lstStyle/>
          <a:p>
            <a:pPr marL="342900" indent="-342900">
              <a:buSzPct val="100000"/>
              <a:buChar char="•"/>
            </a:pPr>
            <a:r>
              <a:rPr lang="en-US" sz="1250" dirty="0">
                <a:solidFill>
                  <a:srgbClr val="1C2B24"/>
                </a:solidFill>
                <a:latin typeface="Calibri" pitchFamily="34" charset="0"/>
                <a:ea typeface="Calibri" pitchFamily="34" charset="-122"/>
                <a:cs typeface="Calibri" pitchFamily="34" charset="-120"/>
              </a:rPr>
              <a:t>assists</a:t>
            </a:r>
            <a:endParaRPr lang="en-US" sz="1250" dirty="0"/>
          </a:p>
        </p:txBody>
      </p:sp>
      <p:sp>
        <p:nvSpPr>
          <p:cNvPr id="22" name="Text 18"/>
          <p:cNvSpPr/>
          <p:nvPr/>
        </p:nvSpPr>
        <p:spPr>
          <a:xfrm>
            <a:off x="5394960" y="3602736"/>
            <a:ext cx="3566160" cy="274320"/>
          </a:xfrm>
          <a:prstGeom prst="rect">
            <a:avLst/>
          </a:prstGeom>
          <a:noFill/>
          <a:ln/>
        </p:spPr>
        <p:txBody>
          <a:bodyPr wrap="square" lIns="0" tIns="0" rIns="0" bIns="0" rtlCol="0" anchor="ctr"/>
          <a:lstStyle/>
          <a:p>
            <a:pPr marL="342900" indent="-342900">
              <a:buSzPct val="100000"/>
              <a:buChar char="•"/>
            </a:pPr>
            <a:r>
              <a:rPr lang="en-US" sz="1250" dirty="0">
                <a:solidFill>
                  <a:srgbClr val="1C2B24"/>
                </a:solidFill>
                <a:latin typeface="Calibri" pitchFamily="34" charset="0"/>
                <a:ea typeface="Calibri" pitchFamily="34" charset="-122"/>
                <a:cs typeface="Calibri" pitchFamily="34" charset="-120"/>
              </a:rPr>
              <a:t>minutes_played</a:t>
            </a:r>
            <a:endParaRPr lang="en-US" sz="1250" dirty="0"/>
          </a:p>
        </p:txBody>
      </p:sp>
      <p:sp>
        <p:nvSpPr>
          <p:cNvPr id="23" name="Text 19"/>
          <p:cNvSpPr/>
          <p:nvPr/>
        </p:nvSpPr>
        <p:spPr>
          <a:xfrm>
            <a:off x="5394960" y="3904488"/>
            <a:ext cx="3566160" cy="274320"/>
          </a:xfrm>
          <a:prstGeom prst="rect">
            <a:avLst/>
          </a:prstGeom>
          <a:noFill/>
          <a:ln/>
        </p:spPr>
        <p:txBody>
          <a:bodyPr wrap="square" lIns="0" tIns="0" rIns="0" bIns="0" rtlCol="0" anchor="ctr"/>
          <a:lstStyle/>
          <a:p>
            <a:pPr marL="342900" indent="-342900">
              <a:buSzPct val="100000"/>
              <a:buChar char="•"/>
            </a:pPr>
            <a:r>
              <a:rPr lang="en-US" sz="1250" dirty="0">
                <a:solidFill>
                  <a:srgbClr val="1C2B24"/>
                </a:solidFill>
                <a:latin typeface="Calibri" pitchFamily="34" charset="0"/>
                <a:ea typeface="Calibri" pitchFamily="34" charset="-122"/>
                <a:cs typeface="Calibri" pitchFamily="34" charset="-120"/>
              </a:rPr>
              <a:t>yellow_cards</a:t>
            </a:r>
            <a:endParaRPr lang="en-US" sz="1250" dirty="0"/>
          </a:p>
        </p:txBody>
      </p:sp>
      <p:sp>
        <p:nvSpPr>
          <p:cNvPr id="24" name="Text 20"/>
          <p:cNvSpPr/>
          <p:nvPr/>
        </p:nvSpPr>
        <p:spPr>
          <a:xfrm>
            <a:off x="2720340" y="4174143"/>
            <a:ext cx="8229600" cy="365760"/>
          </a:xfrm>
          <a:prstGeom prst="rect">
            <a:avLst/>
          </a:prstGeom>
          <a:noFill/>
          <a:ln/>
        </p:spPr>
        <p:txBody>
          <a:bodyPr wrap="square" lIns="0" tIns="0" rIns="0" bIns="0"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Merged on player_id  →  aggregated career totals per player</a:t>
            </a:r>
          </a:p>
        </p:txBody>
      </p:sp>
      <p:sp>
        <p:nvSpPr>
          <p:cNvPr id="25" name="Shape 21"/>
          <p:cNvSpPr/>
          <p:nvPr/>
        </p:nvSpPr>
        <p:spPr>
          <a:xfrm>
            <a:off x="464665" y="5029200"/>
            <a:ext cx="7955280" cy="1417320"/>
          </a:xfrm>
          <a:prstGeom prst="roundRect">
            <a:avLst>
              <a:gd name="adj" fmla="val 6452"/>
            </a:avLst>
          </a:prstGeom>
          <a:solidFill>
            <a:srgbClr val="0E3B2E"/>
          </a:solidFill>
          <a:ln/>
        </p:spPr>
        <p:txBody>
          <a:bodyPr/>
          <a:lstStyle/>
          <a:p>
            <a:endParaRPr lang="en-US"/>
          </a:p>
        </p:txBody>
      </p:sp>
      <p:sp>
        <p:nvSpPr>
          <p:cNvPr id="26" name="Text 22"/>
          <p:cNvSpPr/>
          <p:nvPr/>
        </p:nvSpPr>
        <p:spPr>
          <a:xfrm>
            <a:off x="784705" y="5250989"/>
            <a:ext cx="7315200" cy="320040"/>
          </a:xfrm>
          <a:prstGeom prst="rect">
            <a:avLst/>
          </a:prstGeom>
          <a:noFill/>
          <a:ln/>
        </p:spPr>
        <p:txBody>
          <a:bodyPr wrap="square" lIns="0" tIns="0" rIns="0" bIns="0" rtlCol="0" anchor="ctr"/>
          <a:lstStyle/>
          <a:p>
            <a:pPr marL="0" indent="0">
              <a:buNone/>
            </a:pPr>
            <a:r>
              <a:rPr lang="en-US" sz="1200" b="1" kern="0" spc="100" dirty="0">
                <a:solidFill>
                  <a:srgbClr val="D4A017"/>
                </a:solidFill>
                <a:latin typeface="Calibri" pitchFamily="34" charset="0"/>
                <a:ea typeface="Calibri" pitchFamily="34" charset="-122"/>
                <a:cs typeface="Calibri" pitchFamily="34" charset="-120"/>
              </a:rPr>
              <a:t>ENGINEERED FEATURES USED IN THE MODEL</a:t>
            </a:r>
            <a:endParaRPr lang="en-US" sz="1200" dirty="0"/>
          </a:p>
        </p:txBody>
      </p:sp>
      <p:sp>
        <p:nvSpPr>
          <p:cNvPr id="27" name="Text 23"/>
          <p:cNvSpPr/>
          <p:nvPr/>
        </p:nvSpPr>
        <p:spPr>
          <a:xfrm>
            <a:off x="914400" y="5486400"/>
            <a:ext cx="1508760" cy="640080"/>
          </a:xfrm>
          <a:prstGeom prst="rect">
            <a:avLst/>
          </a:prstGeom>
          <a:noFill/>
          <a:ln/>
        </p:spPr>
        <p:txBody>
          <a:bodyPr wrap="square" lIns="0" tIns="0" rIns="0" bIns="0" rtlCol="0" anchor="ctr"/>
          <a:lstStyle/>
          <a:p>
            <a:pPr marL="0" indent="0" algn="l">
              <a:lnSpc>
                <a:spcPct val="110000"/>
              </a:lnSpc>
              <a:buNone/>
            </a:pPr>
            <a:r>
              <a:rPr lang="en-US" sz="1050" dirty="0">
                <a:solidFill>
                  <a:srgbClr val="FFFFFF"/>
                </a:solidFill>
                <a:latin typeface="Calibri" pitchFamily="34" charset="0"/>
                <a:ea typeface="Calibri" pitchFamily="34" charset="-122"/>
                <a:cs typeface="Calibri" pitchFamily="34" charset="-120"/>
              </a:rPr>
              <a:t>Age </a:t>
            </a:r>
            <a:endParaRPr lang="en-US" sz="1050" dirty="0"/>
          </a:p>
        </p:txBody>
      </p:sp>
      <p:sp>
        <p:nvSpPr>
          <p:cNvPr id="28" name="Text 24"/>
          <p:cNvSpPr/>
          <p:nvPr/>
        </p:nvSpPr>
        <p:spPr>
          <a:xfrm>
            <a:off x="2212848" y="5486400"/>
            <a:ext cx="1508760" cy="640080"/>
          </a:xfrm>
          <a:prstGeom prst="rect">
            <a:avLst/>
          </a:prstGeom>
          <a:noFill/>
          <a:ln/>
        </p:spPr>
        <p:txBody>
          <a:bodyPr wrap="square" lIns="0" tIns="0" rIns="0" bIns="0" rtlCol="0" anchor="ctr"/>
          <a:lstStyle/>
          <a:p>
            <a:pPr marL="0" indent="0" algn="l">
              <a:lnSpc>
                <a:spcPct val="110000"/>
              </a:lnSpc>
              <a:buNone/>
            </a:pPr>
            <a:r>
              <a:rPr lang="en-US" sz="1050" dirty="0">
                <a:solidFill>
                  <a:srgbClr val="FFFFFF"/>
                </a:solidFill>
                <a:latin typeface="Calibri" pitchFamily="34" charset="0"/>
                <a:ea typeface="Calibri" pitchFamily="34" charset="-122"/>
                <a:cs typeface="Calibri" pitchFamily="34" charset="-120"/>
              </a:rPr>
              <a:t>Goals</a:t>
            </a:r>
            <a:endParaRPr lang="en-US" sz="1050" dirty="0"/>
          </a:p>
        </p:txBody>
      </p:sp>
      <p:sp>
        <p:nvSpPr>
          <p:cNvPr id="29" name="Text 25"/>
          <p:cNvSpPr/>
          <p:nvPr/>
        </p:nvSpPr>
        <p:spPr>
          <a:xfrm>
            <a:off x="3511296" y="5486400"/>
            <a:ext cx="1508760" cy="640080"/>
          </a:xfrm>
          <a:prstGeom prst="rect">
            <a:avLst/>
          </a:prstGeom>
          <a:noFill/>
          <a:ln/>
        </p:spPr>
        <p:txBody>
          <a:bodyPr wrap="square" lIns="0" tIns="0" rIns="0" bIns="0" rtlCol="0" anchor="ctr"/>
          <a:lstStyle/>
          <a:p>
            <a:pPr marL="0" indent="0" algn="l">
              <a:lnSpc>
                <a:spcPct val="110000"/>
              </a:lnSpc>
              <a:buNone/>
            </a:pPr>
            <a:r>
              <a:rPr lang="en-US" sz="1050" dirty="0">
                <a:solidFill>
                  <a:srgbClr val="FFFFFF"/>
                </a:solidFill>
                <a:latin typeface="Calibri" pitchFamily="34" charset="0"/>
                <a:ea typeface="Calibri" pitchFamily="34" charset="-122"/>
                <a:cs typeface="Calibri" pitchFamily="34" charset="-120"/>
              </a:rPr>
              <a:t>Assists</a:t>
            </a:r>
            <a:endParaRPr lang="en-US" sz="1050" dirty="0"/>
          </a:p>
        </p:txBody>
      </p:sp>
      <p:sp>
        <p:nvSpPr>
          <p:cNvPr id="30" name="Text 26"/>
          <p:cNvSpPr/>
          <p:nvPr/>
        </p:nvSpPr>
        <p:spPr>
          <a:xfrm>
            <a:off x="4809744" y="5486400"/>
            <a:ext cx="1508760" cy="640080"/>
          </a:xfrm>
          <a:prstGeom prst="rect">
            <a:avLst/>
          </a:prstGeom>
          <a:noFill/>
          <a:ln/>
        </p:spPr>
        <p:txBody>
          <a:bodyPr wrap="square" lIns="0" tIns="0" rIns="0" bIns="0" rtlCol="0" anchor="ctr"/>
          <a:lstStyle/>
          <a:p>
            <a:pPr marL="0" indent="0" algn="l">
              <a:lnSpc>
                <a:spcPct val="110000"/>
              </a:lnSpc>
              <a:buNone/>
            </a:pPr>
            <a:r>
              <a:rPr lang="en-US" sz="1050" dirty="0">
                <a:solidFill>
                  <a:srgbClr val="FFFFFF"/>
                </a:solidFill>
                <a:latin typeface="Calibri" pitchFamily="34" charset="0"/>
                <a:ea typeface="Calibri" pitchFamily="34" charset="-122"/>
                <a:cs typeface="Calibri" pitchFamily="34" charset="-120"/>
              </a:rPr>
              <a:t>Minutes played</a:t>
            </a:r>
            <a:endParaRPr lang="en-US" sz="1050" dirty="0"/>
          </a:p>
        </p:txBody>
      </p:sp>
      <p:sp>
        <p:nvSpPr>
          <p:cNvPr id="31" name="Text 27"/>
          <p:cNvSpPr/>
          <p:nvPr/>
        </p:nvSpPr>
        <p:spPr>
          <a:xfrm>
            <a:off x="6108192" y="5486400"/>
            <a:ext cx="1508760" cy="640080"/>
          </a:xfrm>
          <a:prstGeom prst="rect">
            <a:avLst/>
          </a:prstGeom>
          <a:noFill/>
          <a:ln/>
        </p:spPr>
        <p:txBody>
          <a:bodyPr wrap="square" lIns="0" tIns="0" rIns="0" bIns="0" rtlCol="0" anchor="ctr"/>
          <a:lstStyle/>
          <a:p>
            <a:pPr marL="0" indent="0" algn="l">
              <a:lnSpc>
                <a:spcPct val="110000"/>
              </a:lnSpc>
              <a:buNone/>
            </a:pPr>
            <a:r>
              <a:rPr lang="en-US" sz="1050" dirty="0">
                <a:solidFill>
                  <a:srgbClr val="FFFFFF"/>
                </a:solidFill>
                <a:latin typeface="Calibri" pitchFamily="34" charset="0"/>
                <a:ea typeface="Calibri" pitchFamily="34" charset="-122"/>
                <a:cs typeface="Calibri" pitchFamily="34" charset="-120"/>
              </a:rPr>
              <a:t>Yellow cards</a:t>
            </a:r>
            <a:endParaRPr lang="en-US" sz="1050" dirty="0"/>
          </a:p>
        </p:txBody>
      </p:sp>
      <p:sp>
        <p:nvSpPr>
          <p:cNvPr id="32" name="Text 28"/>
          <p:cNvSpPr/>
          <p:nvPr/>
        </p:nvSpPr>
        <p:spPr>
          <a:xfrm>
            <a:off x="7406640" y="5486400"/>
            <a:ext cx="1508760" cy="640080"/>
          </a:xfrm>
          <a:prstGeom prst="rect">
            <a:avLst/>
          </a:prstGeom>
          <a:noFill/>
          <a:ln/>
        </p:spPr>
        <p:txBody>
          <a:bodyPr wrap="square" lIns="0" tIns="0" rIns="0" bIns="0" rtlCol="0" anchor="ctr"/>
          <a:lstStyle/>
          <a:p>
            <a:pPr marL="0" indent="0" algn="l">
              <a:lnSpc>
                <a:spcPct val="110000"/>
              </a:lnSpc>
              <a:buNone/>
            </a:pPr>
            <a:r>
              <a:rPr lang="en-US" sz="1050" dirty="0">
                <a:solidFill>
                  <a:srgbClr val="FFFFFF"/>
                </a:solidFill>
                <a:latin typeface="Calibri" pitchFamily="34" charset="0"/>
                <a:ea typeface="Calibri" pitchFamily="34" charset="-122"/>
                <a:cs typeface="Calibri" pitchFamily="34" charset="-120"/>
              </a:rPr>
              <a:t>Position </a:t>
            </a:r>
            <a:endParaRPr lang="en-US" sz="1050" dirty="0"/>
          </a:p>
        </p:txBody>
      </p:sp>
      <p:sp>
        <p:nvSpPr>
          <p:cNvPr id="33" name="Shape 29"/>
          <p:cNvSpPr/>
          <p:nvPr/>
        </p:nvSpPr>
        <p:spPr>
          <a:xfrm>
            <a:off x="8869680" y="1691640"/>
            <a:ext cx="2697480" cy="4617720"/>
          </a:xfrm>
          <a:prstGeom prst="roundRect">
            <a:avLst>
              <a:gd name="adj" fmla="val 4068"/>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34" name="Text 30"/>
          <p:cNvSpPr/>
          <p:nvPr/>
        </p:nvSpPr>
        <p:spPr>
          <a:xfrm>
            <a:off x="8869680" y="2103120"/>
            <a:ext cx="2697480" cy="822960"/>
          </a:xfrm>
          <a:prstGeom prst="rect">
            <a:avLst/>
          </a:prstGeom>
          <a:noFill/>
          <a:ln/>
        </p:spPr>
        <p:txBody>
          <a:bodyPr wrap="square" lIns="0" tIns="0" rIns="0" bIns="0" rtlCol="0" anchor="ctr"/>
          <a:lstStyle/>
          <a:p>
            <a:pPr marL="0" indent="0" algn="ctr">
              <a:buNone/>
            </a:pPr>
            <a:r>
              <a:rPr lang="en-US" sz="3400" b="1" dirty="0">
                <a:solidFill>
                  <a:srgbClr val="1B4332"/>
                </a:solidFill>
                <a:latin typeface="Cambria" pitchFamily="34" charset="0"/>
                <a:ea typeface="Cambria" pitchFamily="34" charset="-122"/>
                <a:cs typeface="Cambria" pitchFamily="34" charset="-120"/>
              </a:rPr>
              <a:t>80 / 20</a:t>
            </a:r>
            <a:endParaRPr lang="en-US" sz="3400" dirty="0"/>
          </a:p>
        </p:txBody>
      </p:sp>
      <p:sp>
        <p:nvSpPr>
          <p:cNvPr id="35" name="Text 31"/>
          <p:cNvSpPr/>
          <p:nvPr/>
        </p:nvSpPr>
        <p:spPr>
          <a:xfrm>
            <a:off x="8869680" y="2788920"/>
            <a:ext cx="2697480" cy="365760"/>
          </a:xfrm>
          <a:prstGeom prst="rect">
            <a:avLst/>
          </a:prstGeom>
          <a:noFill/>
          <a:ln/>
        </p:spPr>
        <p:txBody>
          <a:bodyPr wrap="square" lIns="0" tIns="0" rIns="0" bIns="0" rtlCol="0" anchor="ctr"/>
          <a:lstStyle/>
          <a:p>
            <a:pPr marL="0" indent="0" algn="ctr">
              <a:buNone/>
            </a:pPr>
            <a:r>
              <a:rPr lang="en-US" sz="1200" dirty="0">
                <a:solidFill>
                  <a:srgbClr val="5B6D63"/>
                </a:solidFill>
                <a:latin typeface="Calibri" pitchFamily="34" charset="0"/>
                <a:ea typeface="Calibri" pitchFamily="34" charset="-122"/>
                <a:cs typeface="Calibri" pitchFamily="34" charset="-120"/>
              </a:rPr>
              <a:t>Train / Test split</a:t>
            </a:r>
            <a:endParaRPr lang="en-US" sz="1200" dirty="0"/>
          </a:p>
        </p:txBody>
      </p:sp>
      <p:sp>
        <p:nvSpPr>
          <p:cNvPr id="36" name="Shape 32"/>
          <p:cNvSpPr/>
          <p:nvPr/>
        </p:nvSpPr>
        <p:spPr>
          <a:xfrm>
            <a:off x="9144000" y="3337560"/>
            <a:ext cx="2148840" cy="0"/>
          </a:xfrm>
          <a:prstGeom prst="line">
            <a:avLst/>
          </a:prstGeom>
          <a:noFill/>
          <a:ln w="12700">
            <a:solidFill>
              <a:srgbClr val="E3E7E1"/>
            </a:solidFill>
            <a:prstDash val="solid"/>
          </a:ln>
        </p:spPr>
        <p:txBody>
          <a:bodyPr/>
          <a:lstStyle/>
          <a:p>
            <a:endParaRPr lang="en-US"/>
          </a:p>
        </p:txBody>
      </p:sp>
      <p:sp>
        <p:nvSpPr>
          <p:cNvPr id="37" name="Text 33"/>
          <p:cNvSpPr/>
          <p:nvPr/>
        </p:nvSpPr>
        <p:spPr>
          <a:xfrm>
            <a:off x="8869680" y="3566160"/>
            <a:ext cx="2697480" cy="320040"/>
          </a:xfrm>
          <a:prstGeom prst="rect">
            <a:avLst/>
          </a:prstGeom>
          <a:noFill/>
          <a:ln/>
        </p:spPr>
        <p:txBody>
          <a:bodyPr wrap="square" lIns="0" tIns="0" rIns="0" bIns="0" rtlCol="0" anchor="ctr"/>
          <a:lstStyle/>
          <a:p>
            <a:pPr marL="0" indent="0" algn="ctr">
              <a:buNone/>
            </a:pPr>
            <a:r>
              <a:rPr lang="en-US" sz="1200" b="1" dirty="0">
                <a:solidFill>
                  <a:srgbClr val="1C2B24"/>
                </a:solidFill>
                <a:latin typeface="Calibri" pitchFamily="34" charset="0"/>
                <a:ea typeface="Calibri" pitchFamily="34" charset="-122"/>
                <a:cs typeface="Calibri" pitchFamily="34" charset="-120"/>
              </a:rPr>
              <a:t>Target</a:t>
            </a:r>
            <a:endParaRPr lang="en-US" sz="1200" dirty="0"/>
          </a:p>
        </p:txBody>
      </p:sp>
      <p:sp>
        <p:nvSpPr>
          <p:cNvPr id="38" name="Text 34"/>
          <p:cNvSpPr/>
          <p:nvPr/>
        </p:nvSpPr>
        <p:spPr>
          <a:xfrm>
            <a:off x="8869680" y="3886200"/>
            <a:ext cx="2697480" cy="457200"/>
          </a:xfrm>
          <a:prstGeom prst="rect">
            <a:avLst/>
          </a:prstGeom>
          <a:noFill/>
          <a:ln/>
        </p:spPr>
        <p:txBody>
          <a:bodyPr wrap="square" lIns="0" tIns="0" rIns="0" bIns="0" rtlCol="0" anchor="ctr"/>
          <a:lstStyle/>
          <a:p>
            <a:pPr marL="0" indent="0" algn="ctr">
              <a:buNone/>
            </a:pPr>
            <a:r>
              <a:rPr lang="en-US" sz="1250" i="1" dirty="0">
                <a:solidFill>
                  <a:srgbClr val="40916C"/>
                </a:solidFill>
                <a:latin typeface="Calibri" pitchFamily="34" charset="0"/>
                <a:ea typeface="Calibri" pitchFamily="34" charset="-122"/>
                <a:cs typeface="Calibri" pitchFamily="34" charset="-120"/>
              </a:rPr>
              <a:t>market_value_in_eur</a:t>
            </a:r>
            <a:endParaRPr lang="en-US" sz="1250" dirty="0"/>
          </a:p>
        </p:txBody>
      </p:sp>
      <p:sp>
        <p:nvSpPr>
          <p:cNvPr id="39" name="Shape 35"/>
          <p:cNvSpPr/>
          <p:nvPr/>
        </p:nvSpPr>
        <p:spPr>
          <a:xfrm>
            <a:off x="9144000" y="4526280"/>
            <a:ext cx="2148840" cy="0"/>
          </a:xfrm>
          <a:prstGeom prst="line">
            <a:avLst/>
          </a:prstGeom>
          <a:noFill/>
          <a:ln w="12700">
            <a:solidFill>
              <a:srgbClr val="E3E7E1"/>
            </a:solidFill>
            <a:prstDash val="solid"/>
          </a:ln>
        </p:spPr>
        <p:txBody>
          <a:bodyPr/>
          <a:lstStyle/>
          <a:p>
            <a:endParaRPr lang="en-US"/>
          </a:p>
        </p:txBody>
      </p:sp>
      <p:sp>
        <p:nvSpPr>
          <p:cNvPr id="40" name="Text 36"/>
          <p:cNvSpPr/>
          <p:nvPr/>
        </p:nvSpPr>
        <p:spPr>
          <a:xfrm>
            <a:off x="8869680" y="4709160"/>
            <a:ext cx="2697480" cy="320040"/>
          </a:xfrm>
          <a:prstGeom prst="rect">
            <a:avLst/>
          </a:prstGeom>
          <a:noFill/>
          <a:ln/>
        </p:spPr>
        <p:txBody>
          <a:bodyPr wrap="square" lIns="0" tIns="0" rIns="0" bIns="0" rtlCol="0" anchor="ctr"/>
          <a:lstStyle/>
          <a:p>
            <a:pPr marL="0" indent="0" algn="ctr">
              <a:buNone/>
            </a:pPr>
            <a:r>
              <a:rPr lang="en-US" sz="1200" b="1" dirty="0">
                <a:solidFill>
                  <a:srgbClr val="1C2B24"/>
                </a:solidFill>
                <a:latin typeface="Calibri" pitchFamily="34" charset="0"/>
                <a:ea typeface="Calibri" pitchFamily="34" charset="-122"/>
                <a:cs typeface="Calibri" pitchFamily="34" charset="-120"/>
              </a:rPr>
              <a:t>Cleaning</a:t>
            </a:r>
            <a:endParaRPr lang="en-US" sz="1200" dirty="0"/>
          </a:p>
        </p:txBody>
      </p:sp>
      <p:sp>
        <p:nvSpPr>
          <p:cNvPr id="41" name="Text 37"/>
          <p:cNvSpPr/>
          <p:nvPr/>
        </p:nvSpPr>
        <p:spPr>
          <a:xfrm>
            <a:off x="9052560" y="5029200"/>
            <a:ext cx="2331720" cy="1097280"/>
          </a:xfrm>
          <a:prstGeom prst="rect">
            <a:avLst/>
          </a:prstGeom>
          <a:noFill/>
          <a:ln/>
        </p:spPr>
        <p:txBody>
          <a:bodyPr wrap="square" lIns="0" tIns="0" rIns="0" bIns="0" rtlCol="0" anchor="ctr"/>
          <a:lstStyle/>
          <a:p>
            <a:pPr marL="0" indent="0" algn="ctr">
              <a:lnSpc>
                <a:spcPct val="120000"/>
              </a:lnSpc>
              <a:buNone/>
            </a:pPr>
            <a:r>
              <a:rPr lang="en-US" sz="1050" dirty="0">
                <a:solidFill>
                  <a:srgbClr val="5B6D63"/>
                </a:solidFill>
                <a:latin typeface="Calibri" pitchFamily="34" charset="0"/>
                <a:ea typeface="Calibri" pitchFamily="34" charset="-122"/>
                <a:cs typeface="Calibri" pitchFamily="34" charset="-120"/>
              </a:rPr>
              <a:t>Rows dropped where target, age, or performance metrics were missing</a:t>
            </a:r>
            <a:endParaRPr lang="en-US" sz="1050" dirty="0"/>
          </a:p>
        </p:txBody>
      </p:sp>
      <p:sp>
        <p:nvSpPr>
          <p:cNvPr id="42" name="Text 20">
            <a:extLst>
              <a:ext uri="{FF2B5EF4-FFF2-40B4-BE49-F238E27FC236}">
                <a16:creationId xmlns:a16="http://schemas.microsoft.com/office/drawing/2014/main" id="{EAAC32F3-EE6A-012C-4050-81C44A123C4F}"/>
              </a:ext>
            </a:extLst>
          </p:cNvPr>
          <p:cNvSpPr/>
          <p:nvPr/>
        </p:nvSpPr>
        <p:spPr>
          <a:xfrm>
            <a:off x="2595543" y="4540836"/>
            <a:ext cx="8229600" cy="365760"/>
          </a:xfrm>
          <a:prstGeom prst="rect">
            <a:avLst/>
          </a:prstGeom>
          <a:noFill/>
          <a:ln/>
        </p:spPr>
        <p:txBody>
          <a:bodyPr wrap="square" lIns="0" tIns="0" rIns="0" bIns="0" rtlCol="0" anchor="ctr"/>
          <a:lstStyle/>
          <a:p>
            <a:r>
              <a:rPr lang="en-US" sz="1300" b="1" dirty="0">
                <a:solidFill>
                  <a:srgbClr val="1B4332"/>
                </a:solidFill>
                <a:latin typeface="Calibri" pitchFamily="34" charset="0"/>
                <a:ea typeface="Calibri" pitchFamily="34" charset="-122"/>
                <a:cs typeface="Calibri" pitchFamily="34" charset="-120"/>
              </a:rPr>
              <a:t>Index: 28236 entries, 0 to 28940 Data columns (total 31 columns)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2"/>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lIns="0" tIns="0" rIns="0" bIns="0" rtlCol="0" anchor="ctr"/>
          <a:lstStyle/>
          <a:p>
            <a:pPr marL="0" indent="0">
              <a:buNone/>
            </a:pPr>
            <a:r>
              <a:rPr lang="en-US" sz="3000" b="1" dirty="0">
                <a:solidFill>
                  <a:srgbClr val="1C2B24"/>
                </a:solidFill>
                <a:latin typeface="Cambria" pitchFamily="34" charset="0"/>
                <a:ea typeface="Cambria" pitchFamily="34" charset="-122"/>
                <a:cs typeface="Cambria" pitchFamily="34" charset="-120"/>
              </a:rPr>
              <a:t>Workflow</a:t>
            </a:r>
            <a:endParaRPr lang="en-US" sz="3000" dirty="0"/>
          </a:p>
        </p:txBody>
      </p:sp>
      <p:sp>
        <p:nvSpPr>
          <p:cNvPr id="3" name="Text 1"/>
          <p:cNvSpPr/>
          <p:nvPr/>
        </p:nvSpPr>
        <p:spPr>
          <a:xfrm>
            <a:off x="640080" y="1051560"/>
            <a:ext cx="8229600" cy="365760"/>
          </a:xfrm>
          <a:prstGeom prst="rect">
            <a:avLst/>
          </a:prstGeom>
          <a:noFill/>
          <a:ln/>
        </p:spPr>
        <p:txBody>
          <a:bodyPr wrap="square" lIns="0" tIns="0" rIns="0" bIns="0" rtlCol="0" anchor="ctr"/>
          <a:lstStyle/>
          <a:p>
            <a:pPr marL="0" indent="0">
              <a:buNone/>
            </a:pPr>
            <a:r>
              <a:rPr lang="en-US" sz="1350" i="1" dirty="0">
                <a:solidFill>
                  <a:srgbClr val="5B6D63"/>
                </a:solidFill>
                <a:latin typeface="Calibri" pitchFamily="34" charset="0"/>
                <a:ea typeface="Calibri" pitchFamily="34" charset="-122"/>
                <a:cs typeface="Calibri" pitchFamily="34" charset="-120"/>
              </a:rPr>
              <a:t>From raw match data to scouting recommendations</a:t>
            </a:r>
            <a:endParaRPr lang="en-US" sz="1350" dirty="0"/>
          </a:p>
        </p:txBody>
      </p:sp>
      <p:sp>
        <p:nvSpPr>
          <p:cNvPr id="4" name="Shape 2"/>
          <p:cNvSpPr/>
          <p:nvPr/>
        </p:nvSpPr>
        <p:spPr>
          <a:xfrm>
            <a:off x="640080" y="1691640"/>
            <a:ext cx="3611880" cy="2331720"/>
          </a:xfrm>
          <a:prstGeom prst="roundRect">
            <a:avLst>
              <a:gd name="adj" fmla="val 3922"/>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5" name="Shape 3"/>
          <p:cNvSpPr/>
          <p:nvPr/>
        </p:nvSpPr>
        <p:spPr>
          <a:xfrm>
            <a:off x="868680" y="1920240"/>
            <a:ext cx="457200" cy="457200"/>
          </a:xfrm>
          <a:prstGeom prst="ellipse">
            <a:avLst/>
          </a:prstGeom>
          <a:solidFill>
            <a:srgbClr val="1B4332"/>
          </a:solidFill>
          <a:ln/>
        </p:spPr>
        <p:txBody>
          <a:bodyPr/>
          <a:lstStyle/>
          <a:p>
            <a:endParaRPr lang="en-US"/>
          </a:p>
        </p:txBody>
      </p:sp>
      <p:pic>
        <p:nvPicPr>
          <p:cNvPr id="6" name="Image 0" descr="icon_FaDatabase_FFFFFF.png"/>
          <p:cNvPicPr>
            <a:picLocks noChangeAspect="1"/>
          </p:cNvPicPr>
          <p:nvPr/>
        </p:nvPicPr>
        <p:blipFill>
          <a:blip r:embed="rId3"/>
          <a:stretch>
            <a:fillRect/>
          </a:stretch>
        </p:blipFill>
        <p:spPr>
          <a:xfrm>
            <a:off x="978408" y="2029968"/>
            <a:ext cx="246888" cy="246888"/>
          </a:xfrm>
          <a:prstGeom prst="rect">
            <a:avLst/>
          </a:prstGeom>
        </p:spPr>
      </p:pic>
      <p:sp>
        <p:nvSpPr>
          <p:cNvPr id="7" name="Text 4"/>
          <p:cNvSpPr/>
          <p:nvPr/>
        </p:nvSpPr>
        <p:spPr>
          <a:xfrm>
            <a:off x="3749040" y="1856232"/>
            <a:ext cx="365760" cy="365760"/>
          </a:xfrm>
          <a:prstGeom prst="rect">
            <a:avLst/>
          </a:prstGeom>
          <a:noFill/>
          <a:ln/>
        </p:spPr>
        <p:txBody>
          <a:bodyPr wrap="square" lIns="0" tIns="0" rIns="0" bIns="0" rtlCol="0" anchor="ctr"/>
          <a:lstStyle/>
          <a:p>
            <a:pPr marL="0" indent="0" algn="r">
              <a:buNone/>
            </a:pPr>
            <a:r>
              <a:rPr lang="en-US" sz="1800" b="1" dirty="0">
                <a:solidFill>
                  <a:srgbClr val="D9DED8"/>
                </a:solidFill>
                <a:latin typeface="Cambria" pitchFamily="34" charset="0"/>
                <a:ea typeface="Cambria" pitchFamily="34" charset="-122"/>
                <a:cs typeface="Cambria" pitchFamily="34" charset="-120"/>
              </a:rPr>
              <a:t>1</a:t>
            </a:r>
            <a:endParaRPr lang="en-US" sz="1800" dirty="0"/>
          </a:p>
        </p:txBody>
      </p:sp>
      <p:sp>
        <p:nvSpPr>
          <p:cNvPr id="8" name="Text 5"/>
          <p:cNvSpPr/>
          <p:nvPr/>
        </p:nvSpPr>
        <p:spPr>
          <a:xfrm>
            <a:off x="868680" y="2514600"/>
            <a:ext cx="3154680" cy="365760"/>
          </a:xfrm>
          <a:prstGeom prst="rect">
            <a:avLst/>
          </a:prstGeom>
          <a:noFill/>
          <a:ln/>
        </p:spPr>
        <p:txBody>
          <a:bodyPr wrap="square" lIns="0" tIns="0" rIns="0" bIns="0" rtlCol="0" anchor="ctr"/>
          <a:lstStyle/>
          <a:p>
            <a:pPr marL="0" indent="0">
              <a:buNone/>
            </a:pPr>
            <a:r>
              <a:rPr lang="en-US" sz="1500" b="1" dirty="0">
                <a:solidFill>
                  <a:srgbClr val="1C2B24"/>
                </a:solidFill>
                <a:latin typeface="Calibri" pitchFamily="34" charset="0"/>
                <a:ea typeface="Calibri" pitchFamily="34" charset="-122"/>
                <a:cs typeface="Calibri" pitchFamily="34" charset="-120"/>
              </a:rPr>
              <a:t>Load &amp; Merge</a:t>
            </a:r>
            <a:endParaRPr lang="en-US" sz="1500" dirty="0"/>
          </a:p>
        </p:txBody>
      </p:sp>
      <p:sp>
        <p:nvSpPr>
          <p:cNvPr id="9" name="Text 6"/>
          <p:cNvSpPr/>
          <p:nvPr/>
        </p:nvSpPr>
        <p:spPr>
          <a:xfrm>
            <a:off x="868680" y="2880360"/>
            <a:ext cx="3154680" cy="1005840"/>
          </a:xfrm>
          <a:prstGeom prst="rect">
            <a:avLst/>
          </a:prstGeom>
          <a:noFill/>
          <a:ln/>
        </p:spPr>
        <p:txBody>
          <a:bodyPr wrap="square" lIns="0" tIns="0" rIns="0" bIns="0" rtlCol="0" anchor="ctr"/>
          <a:lstStyle/>
          <a:p>
            <a:pPr marL="0" indent="0">
              <a:lnSpc>
                <a:spcPct val="125000"/>
              </a:lnSpc>
              <a:buNone/>
            </a:pPr>
            <a:r>
              <a:rPr lang="en-US" sz="1150" dirty="0">
                <a:solidFill>
                  <a:srgbClr val="5B6D63"/>
                </a:solidFill>
                <a:latin typeface="Calibri" pitchFamily="34" charset="0"/>
                <a:ea typeface="Calibri" pitchFamily="34" charset="-122"/>
                <a:cs typeface="Calibri" pitchFamily="34" charset="-120"/>
              </a:rPr>
              <a:t>Join players &amp; appearances on player_id; aggregate performance.</a:t>
            </a:r>
            <a:endParaRPr lang="en-US" sz="1150" dirty="0"/>
          </a:p>
        </p:txBody>
      </p:sp>
      <p:sp>
        <p:nvSpPr>
          <p:cNvPr id="10" name="Shape 7"/>
          <p:cNvSpPr/>
          <p:nvPr/>
        </p:nvSpPr>
        <p:spPr>
          <a:xfrm>
            <a:off x="4434840" y="1691640"/>
            <a:ext cx="3611880" cy="2331720"/>
          </a:xfrm>
          <a:prstGeom prst="roundRect">
            <a:avLst>
              <a:gd name="adj" fmla="val 3922"/>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11" name="Shape 8"/>
          <p:cNvSpPr/>
          <p:nvPr/>
        </p:nvSpPr>
        <p:spPr>
          <a:xfrm>
            <a:off x="4663440" y="1920240"/>
            <a:ext cx="457200" cy="457200"/>
          </a:xfrm>
          <a:prstGeom prst="ellipse">
            <a:avLst/>
          </a:prstGeom>
          <a:solidFill>
            <a:srgbClr val="1B4332"/>
          </a:solidFill>
          <a:ln/>
        </p:spPr>
        <p:txBody>
          <a:bodyPr/>
          <a:lstStyle/>
          <a:p>
            <a:endParaRPr lang="en-US"/>
          </a:p>
        </p:txBody>
      </p:sp>
      <p:pic>
        <p:nvPicPr>
          <p:cNvPr id="12" name="Image 1" descr="icon_FaLayerGroup_FFFFFF.png"/>
          <p:cNvPicPr>
            <a:picLocks noChangeAspect="1"/>
          </p:cNvPicPr>
          <p:nvPr/>
        </p:nvPicPr>
        <p:blipFill>
          <a:blip r:embed="rId4"/>
          <a:stretch>
            <a:fillRect/>
          </a:stretch>
        </p:blipFill>
        <p:spPr>
          <a:xfrm>
            <a:off x="4773168" y="2029968"/>
            <a:ext cx="246888" cy="246888"/>
          </a:xfrm>
          <a:prstGeom prst="rect">
            <a:avLst/>
          </a:prstGeom>
        </p:spPr>
      </p:pic>
      <p:sp>
        <p:nvSpPr>
          <p:cNvPr id="13" name="Text 9"/>
          <p:cNvSpPr/>
          <p:nvPr/>
        </p:nvSpPr>
        <p:spPr>
          <a:xfrm>
            <a:off x="7543800" y="1856232"/>
            <a:ext cx="365760" cy="365760"/>
          </a:xfrm>
          <a:prstGeom prst="rect">
            <a:avLst/>
          </a:prstGeom>
          <a:noFill/>
          <a:ln/>
        </p:spPr>
        <p:txBody>
          <a:bodyPr wrap="square" lIns="0" tIns="0" rIns="0" bIns="0" rtlCol="0" anchor="ctr"/>
          <a:lstStyle/>
          <a:p>
            <a:pPr marL="0" indent="0" algn="r">
              <a:buNone/>
            </a:pPr>
            <a:r>
              <a:rPr lang="en-US" sz="1800" b="1" dirty="0">
                <a:solidFill>
                  <a:srgbClr val="D9DED8"/>
                </a:solidFill>
                <a:latin typeface="Cambria" pitchFamily="34" charset="0"/>
                <a:ea typeface="Cambria" pitchFamily="34" charset="-122"/>
                <a:cs typeface="Cambria" pitchFamily="34" charset="-120"/>
              </a:rPr>
              <a:t>2</a:t>
            </a:r>
            <a:endParaRPr lang="en-US" sz="1800" dirty="0"/>
          </a:p>
        </p:txBody>
      </p:sp>
      <p:sp>
        <p:nvSpPr>
          <p:cNvPr id="14" name="Text 10"/>
          <p:cNvSpPr/>
          <p:nvPr/>
        </p:nvSpPr>
        <p:spPr>
          <a:xfrm>
            <a:off x="4663440" y="2514600"/>
            <a:ext cx="3154680" cy="365760"/>
          </a:xfrm>
          <a:prstGeom prst="rect">
            <a:avLst/>
          </a:prstGeom>
          <a:noFill/>
          <a:ln/>
        </p:spPr>
        <p:txBody>
          <a:bodyPr wrap="square" lIns="0" tIns="0" rIns="0" bIns="0" rtlCol="0" anchor="ctr"/>
          <a:lstStyle/>
          <a:p>
            <a:pPr marL="0" indent="0">
              <a:buNone/>
            </a:pPr>
            <a:r>
              <a:rPr lang="en-US" sz="1500" b="1" dirty="0">
                <a:solidFill>
                  <a:srgbClr val="1C2B24"/>
                </a:solidFill>
                <a:latin typeface="Calibri" pitchFamily="34" charset="0"/>
                <a:ea typeface="Calibri" pitchFamily="34" charset="-122"/>
                <a:cs typeface="Calibri" pitchFamily="34" charset="-120"/>
              </a:rPr>
              <a:t>Feature Engineer</a:t>
            </a:r>
            <a:endParaRPr lang="en-US" sz="1500" dirty="0"/>
          </a:p>
        </p:txBody>
      </p:sp>
      <p:sp>
        <p:nvSpPr>
          <p:cNvPr id="15" name="Text 11"/>
          <p:cNvSpPr/>
          <p:nvPr/>
        </p:nvSpPr>
        <p:spPr>
          <a:xfrm>
            <a:off x="4663440" y="2880360"/>
            <a:ext cx="3154680" cy="1005840"/>
          </a:xfrm>
          <a:prstGeom prst="rect">
            <a:avLst/>
          </a:prstGeom>
          <a:noFill/>
          <a:ln/>
        </p:spPr>
        <p:txBody>
          <a:bodyPr wrap="square" lIns="0" tIns="0" rIns="0" bIns="0" rtlCol="0" anchor="ctr"/>
          <a:lstStyle/>
          <a:p>
            <a:pPr marL="0" indent="0">
              <a:lnSpc>
                <a:spcPct val="125000"/>
              </a:lnSpc>
              <a:buNone/>
            </a:pPr>
            <a:r>
              <a:rPr lang="en-US" sz="1150" dirty="0">
                <a:solidFill>
                  <a:srgbClr val="5B6D63"/>
                </a:solidFill>
                <a:latin typeface="Calibri" pitchFamily="34" charset="0"/>
                <a:ea typeface="Calibri" pitchFamily="34" charset="-122"/>
                <a:cs typeface="Calibri" pitchFamily="34" charset="-120"/>
              </a:rPr>
              <a:t>Derive age; one-hot encode position; clean missing values.</a:t>
            </a:r>
            <a:endParaRPr lang="en-US" sz="1150" dirty="0"/>
          </a:p>
        </p:txBody>
      </p:sp>
      <p:sp>
        <p:nvSpPr>
          <p:cNvPr id="16" name="Shape 12"/>
          <p:cNvSpPr/>
          <p:nvPr/>
        </p:nvSpPr>
        <p:spPr>
          <a:xfrm>
            <a:off x="8229600" y="1691640"/>
            <a:ext cx="3611880" cy="2331720"/>
          </a:xfrm>
          <a:prstGeom prst="roundRect">
            <a:avLst>
              <a:gd name="adj" fmla="val 3922"/>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17" name="Shape 13"/>
          <p:cNvSpPr/>
          <p:nvPr/>
        </p:nvSpPr>
        <p:spPr>
          <a:xfrm>
            <a:off x="8458200" y="1920240"/>
            <a:ext cx="457200" cy="457200"/>
          </a:xfrm>
          <a:prstGeom prst="ellipse">
            <a:avLst/>
          </a:prstGeom>
          <a:solidFill>
            <a:srgbClr val="1B4332"/>
          </a:solidFill>
          <a:ln/>
        </p:spPr>
        <p:txBody>
          <a:bodyPr/>
          <a:lstStyle/>
          <a:p>
            <a:endParaRPr lang="en-US"/>
          </a:p>
        </p:txBody>
      </p:sp>
      <p:pic>
        <p:nvPicPr>
          <p:cNvPr id="18" name="Image 2" descr="icon_FaChartLine_FFFFFF.png"/>
          <p:cNvPicPr>
            <a:picLocks noChangeAspect="1"/>
          </p:cNvPicPr>
          <p:nvPr/>
        </p:nvPicPr>
        <p:blipFill>
          <a:blip r:embed="rId5"/>
          <a:stretch>
            <a:fillRect/>
          </a:stretch>
        </p:blipFill>
        <p:spPr>
          <a:xfrm>
            <a:off x="8567928" y="2029968"/>
            <a:ext cx="246888" cy="246888"/>
          </a:xfrm>
          <a:prstGeom prst="rect">
            <a:avLst/>
          </a:prstGeom>
        </p:spPr>
      </p:pic>
      <p:sp>
        <p:nvSpPr>
          <p:cNvPr id="19" name="Text 14"/>
          <p:cNvSpPr/>
          <p:nvPr/>
        </p:nvSpPr>
        <p:spPr>
          <a:xfrm>
            <a:off x="11338560" y="1856232"/>
            <a:ext cx="365760" cy="365760"/>
          </a:xfrm>
          <a:prstGeom prst="rect">
            <a:avLst/>
          </a:prstGeom>
          <a:noFill/>
          <a:ln/>
        </p:spPr>
        <p:txBody>
          <a:bodyPr wrap="square" lIns="0" tIns="0" rIns="0" bIns="0" rtlCol="0" anchor="ctr"/>
          <a:lstStyle/>
          <a:p>
            <a:pPr marL="0" indent="0" algn="r">
              <a:buNone/>
            </a:pPr>
            <a:r>
              <a:rPr lang="en-US" sz="1800" b="1" dirty="0">
                <a:solidFill>
                  <a:srgbClr val="D9DED8"/>
                </a:solidFill>
                <a:latin typeface="Cambria" pitchFamily="34" charset="0"/>
                <a:ea typeface="Cambria" pitchFamily="34" charset="-122"/>
                <a:cs typeface="Cambria" pitchFamily="34" charset="-120"/>
              </a:rPr>
              <a:t>3</a:t>
            </a:r>
            <a:endParaRPr lang="en-US" sz="1800" dirty="0"/>
          </a:p>
        </p:txBody>
      </p:sp>
      <p:sp>
        <p:nvSpPr>
          <p:cNvPr id="20" name="Text 15"/>
          <p:cNvSpPr/>
          <p:nvPr/>
        </p:nvSpPr>
        <p:spPr>
          <a:xfrm>
            <a:off x="8458200" y="2514600"/>
            <a:ext cx="3154680" cy="365760"/>
          </a:xfrm>
          <a:prstGeom prst="rect">
            <a:avLst/>
          </a:prstGeom>
          <a:noFill/>
          <a:ln/>
        </p:spPr>
        <p:txBody>
          <a:bodyPr wrap="square" lIns="0" tIns="0" rIns="0" bIns="0" rtlCol="0" anchor="ctr"/>
          <a:lstStyle/>
          <a:p>
            <a:pPr marL="0" indent="0">
              <a:buNone/>
            </a:pPr>
            <a:r>
              <a:rPr lang="en-US" sz="1500" b="1" dirty="0">
                <a:solidFill>
                  <a:srgbClr val="1C2B24"/>
                </a:solidFill>
                <a:latin typeface="Calibri" pitchFamily="34" charset="0"/>
                <a:ea typeface="Calibri" pitchFamily="34" charset="-122"/>
                <a:cs typeface="Calibri" pitchFamily="34" charset="-120"/>
              </a:rPr>
              <a:t>Explore (EDA)</a:t>
            </a:r>
            <a:endParaRPr lang="en-US" sz="1500" dirty="0"/>
          </a:p>
        </p:txBody>
      </p:sp>
      <p:sp>
        <p:nvSpPr>
          <p:cNvPr id="21" name="Text 16"/>
          <p:cNvSpPr/>
          <p:nvPr/>
        </p:nvSpPr>
        <p:spPr>
          <a:xfrm>
            <a:off x="8458200" y="2880360"/>
            <a:ext cx="3154680" cy="1005840"/>
          </a:xfrm>
          <a:prstGeom prst="rect">
            <a:avLst/>
          </a:prstGeom>
          <a:noFill/>
          <a:ln/>
        </p:spPr>
        <p:txBody>
          <a:bodyPr wrap="square" lIns="0" tIns="0" rIns="0" bIns="0" rtlCol="0" anchor="ctr"/>
          <a:lstStyle/>
          <a:p>
            <a:pPr marL="0" indent="0">
              <a:lnSpc>
                <a:spcPct val="125000"/>
              </a:lnSpc>
              <a:buNone/>
            </a:pPr>
            <a:r>
              <a:rPr lang="en-US" sz="1150" dirty="0">
                <a:solidFill>
                  <a:srgbClr val="5B6D63"/>
                </a:solidFill>
                <a:latin typeface="Calibri" pitchFamily="34" charset="0"/>
                <a:ea typeface="Calibri" pitchFamily="34" charset="-122"/>
                <a:cs typeface="Calibri" pitchFamily="34" charset="-120"/>
              </a:rPr>
              <a:t>Visualize age-value relationship and feature correlations.</a:t>
            </a:r>
            <a:endParaRPr lang="en-US" sz="1150" dirty="0"/>
          </a:p>
        </p:txBody>
      </p:sp>
      <p:sp>
        <p:nvSpPr>
          <p:cNvPr id="22" name="Shape 17"/>
          <p:cNvSpPr/>
          <p:nvPr/>
        </p:nvSpPr>
        <p:spPr>
          <a:xfrm>
            <a:off x="640080" y="4251960"/>
            <a:ext cx="3611880" cy="2331720"/>
          </a:xfrm>
          <a:prstGeom prst="roundRect">
            <a:avLst>
              <a:gd name="adj" fmla="val 3922"/>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23" name="Shape 18"/>
          <p:cNvSpPr/>
          <p:nvPr/>
        </p:nvSpPr>
        <p:spPr>
          <a:xfrm>
            <a:off x="868680" y="4480560"/>
            <a:ext cx="457200" cy="457200"/>
          </a:xfrm>
          <a:prstGeom prst="ellipse">
            <a:avLst/>
          </a:prstGeom>
          <a:solidFill>
            <a:srgbClr val="1B4332"/>
          </a:solidFill>
          <a:ln/>
        </p:spPr>
        <p:txBody>
          <a:bodyPr/>
          <a:lstStyle/>
          <a:p>
            <a:endParaRPr lang="en-US"/>
          </a:p>
        </p:txBody>
      </p:sp>
      <p:pic>
        <p:nvPicPr>
          <p:cNvPr id="24" name="Image 3" descr="icon_FaSitemap_FFFFFF.png"/>
          <p:cNvPicPr>
            <a:picLocks noChangeAspect="1"/>
          </p:cNvPicPr>
          <p:nvPr/>
        </p:nvPicPr>
        <p:blipFill>
          <a:blip r:embed="rId6"/>
          <a:stretch>
            <a:fillRect/>
          </a:stretch>
        </p:blipFill>
        <p:spPr>
          <a:xfrm>
            <a:off x="978408" y="4590288"/>
            <a:ext cx="246888" cy="246888"/>
          </a:xfrm>
          <a:prstGeom prst="rect">
            <a:avLst/>
          </a:prstGeom>
        </p:spPr>
      </p:pic>
      <p:sp>
        <p:nvSpPr>
          <p:cNvPr id="25" name="Text 19"/>
          <p:cNvSpPr/>
          <p:nvPr/>
        </p:nvSpPr>
        <p:spPr>
          <a:xfrm>
            <a:off x="3749040" y="4416552"/>
            <a:ext cx="365760" cy="365760"/>
          </a:xfrm>
          <a:prstGeom prst="rect">
            <a:avLst/>
          </a:prstGeom>
          <a:noFill/>
          <a:ln/>
        </p:spPr>
        <p:txBody>
          <a:bodyPr wrap="square" lIns="0" tIns="0" rIns="0" bIns="0" rtlCol="0" anchor="ctr"/>
          <a:lstStyle/>
          <a:p>
            <a:pPr marL="0" indent="0" algn="r">
              <a:buNone/>
            </a:pPr>
            <a:r>
              <a:rPr lang="en-US" sz="1800" b="1" dirty="0">
                <a:solidFill>
                  <a:srgbClr val="D9DED8"/>
                </a:solidFill>
                <a:latin typeface="Cambria" pitchFamily="34" charset="0"/>
                <a:ea typeface="Cambria" pitchFamily="34" charset="-122"/>
                <a:cs typeface="Cambria" pitchFamily="34" charset="-120"/>
              </a:rPr>
              <a:t>4</a:t>
            </a:r>
            <a:endParaRPr lang="en-US" sz="1800" dirty="0"/>
          </a:p>
        </p:txBody>
      </p:sp>
      <p:sp>
        <p:nvSpPr>
          <p:cNvPr id="26" name="Text 20"/>
          <p:cNvSpPr/>
          <p:nvPr/>
        </p:nvSpPr>
        <p:spPr>
          <a:xfrm>
            <a:off x="868680" y="5074920"/>
            <a:ext cx="3154680" cy="365760"/>
          </a:xfrm>
          <a:prstGeom prst="rect">
            <a:avLst/>
          </a:prstGeom>
          <a:noFill/>
          <a:ln/>
        </p:spPr>
        <p:txBody>
          <a:bodyPr wrap="square" lIns="0" tIns="0" rIns="0" bIns="0" rtlCol="0" anchor="ctr"/>
          <a:lstStyle/>
          <a:p>
            <a:pPr marL="0" indent="0">
              <a:buNone/>
            </a:pPr>
            <a:r>
              <a:rPr lang="en-US" sz="1500" b="1" dirty="0">
                <a:solidFill>
                  <a:srgbClr val="1C2B24"/>
                </a:solidFill>
                <a:latin typeface="Calibri" pitchFamily="34" charset="0"/>
                <a:ea typeface="Calibri" pitchFamily="34" charset="-122"/>
                <a:cs typeface="Calibri" pitchFamily="34" charset="-120"/>
              </a:rPr>
              <a:t>Train 4 Models</a:t>
            </a:r>
            <a:endParaRPr lang="en-US" sz="1500" dirty="0"/>
          </a:p>
        </p:txBody>
      </p:sp>
      <p:sp>
        <p:nvSpPr>
          <p:cNvPr id="27" name="Text 21"/>
          <p:cNvSpPr/>
          <p:nvPr/>
        </p:nvSpPr>
        <p:spPr>
          <a:xfrm>
            <a:off x="868680" y="5440680"/>
            <a:ext cx="3154680" cy="1005840"/>
          </a:xfrm>
          <a:prstGeom prst="rect">
            <a:avLst/>
          </a:prstGeom>
          <a:noFill/>
          <a:ln/>
        </p:spPr>
        <p:txBody>
          <a:bodyPr wrap="square" lIns="0" tIns="0" rIns="0" bIns="0" rtlCol="0" anchor="ctr"/>
          <a:lstStyle/>
          <a:p>
            <a:pPr marL="0" indent="0">
              <a:lnSpc>
                <a:spcPct val="125000"/>
              </a:lnSpc>
              <a:buNone/>
            </a:pPr>
            <a:r>
              <a:rPr lang="en-US" sz="1150" dirty="0">
                <a:solidFill>
                  <a:srgbClr val="5B6D63"/>
                </a:solidFill>
                <a:latin typeface="Calibri" pitchFamily="34" charset="0"/>
                <a:ea typeface="Calibri" pitchFamily="34" charset="-122"/>
                <a:cs typeface="Calibri" pitchFamily="34" charset="-120"/>
              </a:rPr>
              <a:t>Ridge, Random Forest, Gradient Boosting, SVR on an 80/20 split.</a:t>
            </a:r>
            <a:endParaRPr lang="en-US" sz="1150" dirty="0"/>
          </a:p>
        </p:txBody>
      </p:sp>
      <p:sp>
        <p:nvSpPr>
          <p:cNvPr id="28" name="Shape 22"/>
          <p:cNvSpPr/>
          <p:nvPr/>
        </p:nvSpPr>
        <p:spPr>
          <a:xfrm>
            <a:off x="4434840" y="4251960"/>
            <a:ext cx="3611880" cy="2331720"/>
          </a:xfrm>
          <a:prstGeom prst="roundRect">
            <a:avLst>
              <a:gd name="adj" fmla="val 3922"/>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29" name="Shape 23"/>
          <p:cNvSpPr/>
          <p:nvPr/>
        </p:nvSpPr>
        <p:spPr>
          <a:xfrm>
            <a:off x="4663440" y="4480560"/>
            <a:ext cx="457200" cy="457200"/>
          </a:xfrm>
          <a:prstGeom prst="ellipse">
            <a:avLst/>
          </a:prstGeom>
          <a:solidFill>
            <a:srgbClr val="1B4332"/>
          </a:solidFill>
          <a:ln/>
        </p:spPr>
        <p:txBody>
          <a:bodyPr/>
          <a:lstStyle/>
          <a:p>
            <a:endParaRPr lang="en-US"/>
          </a:p>
        </p:txBody>
      </p:sp>
      <p:pic>
        <p:nvPicPr>
          <p:cNvPr id="30" name="Image 4" descr="icon_FaBalanceScale_FFFFFF.png"/>
          <p:cNvPicPr>
            <a:picLocks noChangeAspect="1"/>
          </p:cNvPicPr>
          <p:nvPr/>
        </p:nvPicPr>
        <p:blipFill>
          <a:blip r:embed="rId7"/>
          <a:stretch>
            <a:fillRect/>
          </a:stretch>
        </p:blipFill>
        <p:spPr>
          <a:xfrm>
            <a:off x="4773168" y="4590288"/>
            <a:ext cx="246888" cy="246888"/>
          </a:xfrm>
          <a:prstGeom prst="rect">
            <a:avLst/>
          </a:prstGeom>
        </p:spPr>
      </p:pic>
      <p:sp>
        <p:nvSpPr>
          <p:cNvPr id="31" name="Text 24"/>
          <p:cNvSpPr/>
          <p:nvPr/>
        </p:nvSpPr>
        <p:spPr>
          <a:xfrm>
            <a:off x="7543800" y="4416552"/>
            <a:ext cx="365760" cy="365760"/>
          </a:xfrm>
          <a:prstGeom prst="rect">
            <a:avLst/>
          </a:prstGeom>
          <a:noFill/>
          <a:ln/>
        </p:spPr>
        <p:txBody>
          <a:bodyPr wrap="square" lIns="0" tIns="0" rIns="0" bIns="0" rtlCol="0" anchor="ctr"/>
          <a:lstStyle/>
          <a:p>
            <a:pPr marL="0" indent="0" algn="r">
              <a:buNone/>
            </a:pPr>
            <a:r>
              <a:rPr lang="en-US" sz="1800" b="1" dirty="0">
                <a:solidFill>
                  <a:srgbClr val="D9DED8"/>
                </a:solidFill>
                <a:latin typeface="Cambria" pitchFamily="34" charset="0"/>
                <a:ea typeface="Cambria" pitchFamily="34" charset="-122"/>
                <a:cs typeface="Cambria" pitchFamily="34" charset="-120"/>
              </a:rPr>
              <a:t>5</a:t>
            </a:r>
            <a:endParaRPr lang="en-US" sz="1800" dirty="0"/>
          </a:p>
        </p:txBody>
      </p:sp>
      <p:sp>
        <p:nvSpPr>
          <p:cNvPr id="32" name="Text 25"/>
          <p:cNvSpPr/>
          <p:nvPr/>
        </p:nvSpPr>
        <p:spPr>
          <a:xfrm>
            <a:off x="4663440" y="5074920"/>
            <a:ext cx="3154680" cy="365760"/>
          </a:xfrm>
          <a:prstGeom prst="rect">
            <a:avLst/>
          </a:prstGeom>
          <a:noFill/>
          <a:ln/>
        </p:spPr>
        <p:txBody>
          <a:bodyPr wrap="square" lIns="0" tIns="0" rIns="0" bIns="0" rtlCol="0" anchor="ctr"/>
          <a:lstStyle/>
          <a:p>
            <a:pPr marL="0" indent="0">
              <a:buNone/>
            </a:pPr>
            <a:r>
              <a:rPr lang="en-US" sz="1500" b="1" dirty="0">
                <a:solidFill>
                  <a:srgbClr val="1C2B24"/>
                </a:solidFill>
                <a:latin typeface="Calibri" pitchFamily="34" charset="0"/>
                <a:ea typeface="Calibri" pitchFamily="34" charset="-122"/>
                <a:cs typeface="Calibri" pitchFamily="34" charset="-120"/>
              </a:rPr>
              <a:t>Evaluate &amp; Tune</a:t>
            </a:r>
            <a:endParaRPr lang="en-US" sz="1500" dirty="0"/>
          </a:p>
        </p:txBody>
      </p:sp>
      <p:sp>
        <p:nvSpPr>
          <p:cNvPr id="33" name="Text 26"/>
          <p:cNvSpPr/>
          <p:nvPr/>
        </p:nvSpPr>
        <p:spPr>
          <a:xfrm>
            <a:off x="4663440" y="5440680"/>
            <a:ext cx="3154680" cy="1005840"/>
          </a:xfrm>
          <a:prstGeom prst="rect">
            <a:avLst/>
          </a:prstGeom>
          <a:noFill/>
          <a:ln/>
        </p:spPr>
        <p:txBody>
          <a:bodyPr wrap="square" lIns="0" tIns="0" rIns="0" bIns="0" rtlCol="0" anchor="ctr"/>
          <a:lstStyle/>
          <a:p>
            <a:pPr marL="0" indent="0">
              <a:lnSpc>
                <a:spcPct val="125000"/>
              </a:lnSpc>
              <a:buNone/>
            </a:pPr>
            <a:r>
              <a:rPr lang="en-US" sz="1150" dirty="0">
                <a:solidFill>
                  <a:srgbClr val="5B6D63"/>
                </a:solidFill>
                <a:latin typeface="Calibri" pitchFamily="34" charset="0"/>
                <a:ea typeface="Calibri" pitchFamily="34" charset="-122"/>
                <a:cs typeface="Calibri" pitchFamily="34" charset="-120"/>
              </a:rPr>
              <a:t>Compare MAE/RMSE/R²; cross-validate; fix overfitting.</a:t>
            </a:r>
            <a:endParaRPr lang="en-US" sz="1150" dirty="0"/>
          </a:p>
        </p:txBody>
      </p:sp>
      <p:sp>
        <p:nvSpPr>
          <p:cNvPr id="34" name="Shape 27"/>
          <p:cNvSpPr/>
          <p:nvPr/>
        </p:nvSpPr>
        <p:spPr>
          <a:xfrm>
            <a:off x="8229600" y="4251960"/>
            <a:ext cx="3611880" cy="2331720"/>
          </a:xfrm>
          <a:prstGeom prst="roundRect">
            <a:avLst>
              <a:gd name="adj" fmla="val 3922"/>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35" name="Shape 28"/>
          <p:cNvSpPr/>
          <p:nvPr/>
        </p:nvSpPr>
        <p:spPr>
          <a:xfrm>
            <a:off x="8458200" y="4480560"/>
            <a:ext cx="457200" cy="457200"/>
          </a:xfrm>
          <a:prstGeom prst="ellipse">
            <a:avLst/>
          </a:prstGeom>
          <a:solidFill>
            <a:srgbClr val="1B4332"/>
          </a:solidFill>
          <a:ln/>
        </p:spPr>
        <p:txBody>
          <a:bodyPr/>
          <a:lstStyle/>
          <a:p>
            <a:endParaRPr lang="en-US"/>
          </a:p>
        </p:txBody>
      </p:sp>
      <p:pic>
        <p:nvPicPr>
          <p:cNvPr id="36" name="Image 5" descr="icon_FaSearchDollar_FFFFFF.png"/>
          <p:cNvPicPr>
            <a:picLocks noChangeAspect="1"/>
          </p:cNvPicPr>
          <p:nvPr/>
        </p:nvPicPr>
        <p:blipFill>
          <a:blip r:embed="rId8"/>
          <a:stretch>
            <a:fillRect/>
          </a:stretch>
        </p:blipFill>
        <p:spPr>
          <a:xfrm>
            <a:off x="8567928" y="4590288"/>
            <a:ext cx="246888" cy="246888"/>
          </a:xfrm>
          <a:prstGeom prst="rect">
            <a:avLst/>
          </a:prstGeom>
        </p:spPr>
      </p:pic>
      <p:sp>
        <p:nvSpPr>
          <p:cNvPr id="37" name="Text 29"/>
          <p:cNvSpPr/>
          <p:nvPr/>
        </p:nvSpPr>
        <p:spPr>
          <a:xfrm>
            <a:off x="11338560" y="4416552"/>
            <a:ext cx="365760" cy="365760"/>
          </a:xfrm>
          <a:prstGeom prst="rect">
            <a:avLst/>
          </a:prstGeom>
          <a:noFill/>
          <a:ln/>
        </p:spPr>
        <p:txBody>
          <a:bodyPr wrap="square" lIns="0" tIns="0" rIns="0" bIns="0" rtlCol="0" anchor="ctr"/>
          <a:lstStyle/>
          <a:p>
            <a:pPr marL="0" indent="0" algn="r">
              <a:buNone/>
            </a:pPr>
            <a:r>
              <a:rPr lang="en-US" sz="1800" b="1" dirty="0">
                <a:solidFill>
                  <a:srgbClr val="D9DED8"/>
                </a:solidFill>
                <a:latin typeface="Cambria" pitchFamily="34" charset="0"/>
                <a:ea typeface="Cambria" pitchFamily="34" charset="-122"/>
                <a:cs typeface="Cambria" pitchFamily="34" charset="-120"/>
              </a:rPr>
              <a:t>6</a:t>
            </a:r>
            <a:endParaRPr lang="en-US" sz="1800" dirty="0"/>
          </a:p>
        </p:txBody>
      </p:sp>
      <p:sp>
        <p:nvSpPr>
          <p:cNvPr id="38" name="Text 30"/>
          <p:cNvSpPr/>
          <p:nvPr/>
        </p:nvSpPr>
        <p:spPr>
          <a:xfrm>
            <a:off x="8458200" y="5074920"/>
            <a:ext cx="3154680" cy="365760"/>
          </a:xfrm>
          <a:prstGeom prst="rect">
            <a:avLst/>
          </a:prstGeom>
          <a:noFill/>
          <a:ln/>
        </p:spPr>
        <p:txBody>
          <a:bodyPr wrap="square" lIns="0" tIns="0" rIns="0" bIns="0" rtlCol="0" anchor="ctr"/>
          <a:lstStyle/>
          <a:p>
            <a:pPr marL="0" indent="0">
              <a:buNone/>
            </a:pPr>
            <a:r>
              <a:rPr lang="en-US" sz="1500" b="1" dirty="0">
                <a:solidFill>
                  <a:srgbClr val="1C2B24"/>
                </a:solidFill>
                <a:latin typeface="Calibri" pitchFamily="34" charset="0"/>
                <a:ea typeface="Calibri" pitchFamily="34" charset="-122"/>
                <a:cs typeface="Calibri" pitchFamily="34" charset="-120"/>
              </a:rPr>
              <a:t>Apply Findings</a:t>
            </a:r>
            <a:endParaRPr lang="en-US" sz="1500" dirty="0"/>
          </a:p>
        </p:txBody>
      </p:sp>
      <p:sp>
        <p:nvSpPr>
          <p:cNvPr id="39" name="Text 31"/>
          <p:cNvSpPr/>
          <p:nvPr/>
        </p:nvSpPr>
        <p:spPr>
          <a:xfrm>
            <a:off x="8458200" y="5440680"/>
            <a:ext cx="3154680" cy="1005840"/>
          </a:xfrm>
          <a:prstGeom prst="rect">
            <a:avLst/>
          </a:prstGeom>
          <a:noFill/>
          <a:ln/>
        </p:spPr>
        <p:txBody>
          <a:bodyPr wrap="square" lIns="0" tIns="0" rIns="0" bIns="0" rtlCol="0" anchor="ctr"/>
          <a:lstStyle/>
          <a:p>
            <a:pPr marL="0" indent="0">
              <a:lnSpc>
                <a:spcPct val="125000"/>
              </a:lnSpc>
              <a:buNone/>
            </a:pPr>
            <a:r>
              <a:rPr lang="en-US" sz="1150" dirty="0">
                <a:solidFill>
                  <a:srgbClr val="5B6D63"/>
                </a:solidFill>
                <a:latin typeface="Calibri" pitchFamily="34" charset="0"/>
                <a:ea typeface="Calibri" pitchFamily="34" charset="-122"/>
                <a:cs typeface="Calibri" pitchFamily="34" charset="-120"/>
              </a:rPr>
              <a:t>Score every player; surface undervalued scouting targets.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2"/>
        </a:solidFill>
        <a:effectLst/>
      </p:bgPr>
    </p:bg>
    <p:spTree>
      <p:nvGrpSpPr>
        <p:cNvPr id="1" name=""/>
        <p:cNvGrpSpPr/>
        <p:nvPr/>
      </p:nvGrpSpPr>
      <p:grpSpPr>
        <a:xfrm>
          <a:off x="0" y="0"/>
          <a:ext cx="0" cy="0"/>
          <a:chOff x="0" y="0"/>
          <a:chExt cx="0" cy="0"/>
        </a:xfrm>
      </p:grpSpPr>
      <p:sp>
        <p:nvSpPr>
          <p:cNvPr id="2" name="Text 0"/>
          <p:cNvSpPr/>
          <p:nvPr/>
        </p:nvSpPr>
        <p:spPr>
          <a:xfrm>
            <a:off x="640080" y="457200"/>
            <a:ext cx="6400800" cy="640080"/>
          </a:xfrm>
          <a:prstGeom prst="rect">
            <a:avLst/>
          </a:prstGeom>
          <a:noFill/>
          <a:ln/>
        </p:spPr>
        <p:txBody>
          <a:bodyPr wrap="square" lIns="0" tIns="0" rIns="0" bIns="0" rtlCol="0" anchor="ctr"/>
          <a:lstStyle/>
          <a:p>
            <a:pPr marL="0" indent="0">
              <a:buNone/>
            </a:pPr>
            <a:r>
              <a:rPr lang="en-US" sz="3000" b="1" dirty="0">
                <a:solidFill>
                  <a:srgbClr val="1C2B24"/>
                </a:solidFill>
                <a:latin typeface="Cambria" pitchFamily="34" charset="0"/>
                <a:ea typeface="Cambria" pitchFamily="34" charset="-122"/>
                <a:cs typeface="Cambria" pitchFamily="34" charset="-120"/>
              </a:rPr>
              <a:t>Key Visualizations</a:t>
            </a:r>
            <a:endParaRPr lang="en-US" sz="3000" dirty="0"/>
          </a:p>
        </p:txBody>
      </p:sp>
      <p:sp>
        <p:nvSpPr>
          <p:cNvPr id="3" name="Text 1"/>
          <p:cNvSpPr/>
          <p:nvPr/>
        </p:nvSpPr>
        <p:spPr>
          <a:xfrm>
            <a:off x="640080" y="1051560"/>
            <a:ext cx="6858000" cy="365760"/>
          </a:xfrm>
          <a:prstGeom prst="rect">
            <a:avLst/>
          </a:prstGeom>
          <a:noFill/>
          <a:ln/>
        </p:spPr>
        <p:txBody>
          <a:bodyPr wrap="square" lIns="0" tIns="0" rIns="0" bIns="0" rtlCol="0" anchor="ctr"/>
          <a:lstStyle/>
          <a:p>
            <a:pPr marL="0" indent="0">
              <a:buNone/>
            </a:pPr>
            <a:r>
              <a:rPr lang="en-US" sz="1350" i="1" dirty="0">
                <a:solidFill>
                  <a:srgbClr val="5B6D63"/>
                </a:solidFill>
                <a:latin typeface="Calibri" pitchFamily="34" charset="0"/>
                <a:ea typeface="Calibri" pitchFamily="34" charset="-122"/>
                <a:cs typeface="Calibri" pitchFamily="34" charset="-120"/>
              </a:rPr>
              <a:t>Age is a strong, non-trivial driver of market value</a:t>
            </a:r>
            <a:endParaRPr lang="en-US" sz="1350" dirty="0"/>
          </a:p>
        </p:txBody>
      </p:sp>
      <p:sp>
        <p:nvSpPr>
          <p:cNvPr id="4" name="Shape 2"/>
          <p:cNvSpPr/>
          <p:nvPr/>
        </p:nvSpPr>
        <p:spPr>
          <a:xfrm>
            <a:off x="548640" y="1600200"/>
            <a:ext cx="7223760" cy="4053305"/>
          </a:xfrm>
          <a:prstGeom prst="roundRect">
            <a:avLst>
              <a:gd name="adj" fmla="val 1805"/>
            </a:avLst>
          </a:prstGeom>
          <a:solidFill>
            <a:srgbClr val="FFFFFF"/>
          </a:solidFill>
          <a:ln/>
          <a:effectLst>
            <a:outerShdw blurRad="76200" dist="25400" dir="2700000" algn="bl" rotWithShape="0">
              <a:srgbClr val="000000">
                <a:alpha val="10000"/>
              </a:srgbClr>
            </a:outerShdw>
          </a:effectLst>
        </p:spPr>
        <p:txBody>
          <a:bodyPr/>
          <a:lstStyle/>
          <a:p>
            <a:endParaRPr lang="en-US"/>
          </a:p>
        </p:txBody>
      </p:sp>
      <p:pic>
        <p:nvPicPr>
          <p:cNvPr id="5" name="Image 0" descr="age_vs_value.png"/>
          <p:cNvPicPr>
            <a:picLocks noChangeAspect="1"/>
          </p:cNvPicPr>
          <p:nvPr/>
        </p:nvPicPr>
        <p:blipFill>
          <a:blip r:embed="rId3"/>
          <a:stretch>
            <a:fillRect/>
          </a:stretch>
        </p:blipFill>
        <p:spPr>
          <a:xfrm>
            <a:off x="640080" y="1691640"/>
            <a:ext cx="7040880" cy="3870425"/>
          </a:xfrm>
          <a:prstGeom prst="rect">
            <a:avLst/>
          </a:prstGeom>
        </p:spPr>
      </p:pic>
      <p:sp>
        <p:nvSpPr>
          <p:cNvPr id="6" name="Shape 3"/>
          <p:cNvSpPr/>
          <p:nvPr/>
        </p:nvSpPr>
        <p:spPr>
          <a:xfrm>
            <a:off x="8001000" y="1600200"/>
            <a:ext cx="3566160" cy="4053305"/>
          </a:xfrm>
          <a:prstGeom prst="roundRect">
            <a:avLst>
              <a:gd name="adj" fmla="val 3077"/>
            </a:avLst>
          </a:prstGeom>
          <a:solidFill>
            <a:srgbClr val="0E3B2E"/>
          </a:solidFill>
          <a:ln/>
        </p:spPr>
        <p:txBody>
          <a:bodyPr/>
          <a:lstStyle/>
          <a:p>
            <a:endParaRPr lang="en-US"/>
          </a:p>
        </p:txBody>
      </p:sp>
      <p:sp>
        <p:nvSpPr>
          <p:cNvPr id="7" name="Text 4"/>
          <p:cNvSpPr/>
          <p:nvPr/>
        </p:nvSpPr>
        <p:spPr>
          <a:xfrm>
            <a:off x="8275320" y="1783080"/>
            <a:ext cx="3017520" cy="320040"/>
          </a:xfrm>
          <a:prstGeom prst="rect">
            <a:avLst/>
          </a:prstGeom>
          <a:noFill/>
          <a:ln/>
        </p:spPr>
        <p:txBody>
          <a:bodyPr wrap="square" lIns="0" tIns="0" rIns="0" bIns="0" rtlCol="0" anchor="ctr"/>
          <a:lstStyle/>
          <a:p>
            <a:pPr marL="0" indent="0">
              <a:buNone/>
            </a:pPr>
            <a:r>
              <a:rPr lang="en-US" sz="1200" b="1" kern="0" spc="100" dirty="0">
                <a:solidFill>
                  <a:srgbClr val="D4A017"/>
                </a:solidFill>
                <a:latin typeface="Calibri" pitchFamily="34" charset="0"/>
                <a:ea typeface="Calibri" pitchFamily="34" charset="-122"/>
                <a:cs typeface="Calibri" pitchFamily="34" charset="-120"/>
              </a:rPr>
              <a:t>TAKEAWAYS</a:t>
            </a:r>
            <a:endParaRPr lang="en-US" sz="1200" dirty="0"/>
          </a:p>
        </p:txBody>
      </p:sp>
      <p:sp>
        <p:nvSpPr>
          <p:cNvPr id="8" name="Text 5"/>
          <p:cNvSpPr/>
          <p:nvPr/>
        </p:nvSpPr>
        <p:spPr>
          <a:xfrm>
            <a:off x="8275320" y="2194560"/>
            <a:ext cx="3063240" cy="914400"/>
          </a:xfrm>
          <a:prstGeom prst="rect">
            <a:avLst/>
          </a:prstGeom>
          <a:noFill/>
          <a:ln/>
        </p:spPr>
        <p:txBody>
          <a:bodyPr wrap="square" lIns="0" tIns="0" rIns="0" bIns="0" rtlCol="0" anchor="ctr"/>
          <a:lstStyle/>
          <a:p>
            <a:pPr marL="342900" indent="-342900">
              <a:lnSpc>
                <a:spcPct val="125000"/>
              </a:lnSpc>
              <a:buSzPct val="100000"/>
              <a:buChar char="•"/>
            </a:pPr>
            <a:r>
              <a:rPr lang="en-US" sz="1200" dirty="0">
                <a:solidFill>
                  <a:srgbClr val="F4F6F2"/>
                </a:solidFill>
                <a:latin typeface="Calibri" pitchFamily="34" charset="0"/>
                <a:ea typeface="Calibri" pitchFamily="34" charset="-122"/>
                <a:cs typeface="Calibri" pitchFamily="34" charset="-120"/>
              </a:rPr>
              <a:t>Valuation peaks in a player's mid-to-late 20s, matching real scouting intuition.</a:t>
            </a:r>
            <a:endParaRPr lang="en-US" sz="1200" dirty="0"/>
          </a:p>
        </p:txBody>
      </p:sp>
      <p:sp>
        <p:nvSpPr>
          <p:cNvPr id="9" name="Text 6"/>
          <p:cNvSpPr/>
          <p:nvPr/>
        </p:nvSpPr>
        <p:spPr>
          <a:xfrm>
            <a:off x="8275320" y="3108960"/>
            <a:ext cx="3063240" cy="914400"/>
          </a:xfrm>
          <a:prstGeom prst="rect">
            <a:avLst/>
          </a:prstGeom>
          <a:noFill/>
          <a:ln/>
        </p:spPr>
        <p:txBody>
          <a:bodyPr wrap="square" lIns="0" tIns="0" rIns="0" bIns="0" rtlCol="0" anchor="ctr"/>
          <a:lstStyle/>
          <a:p>
            <a:pPr marL="342900" indent="-342900">
              <a:lnSpc>
                <a:spcPct val="125000"/>
              </a:lnSpc>
              <a:buSzPct val="100000"/>
              <a:buChar char="•"/>
            </a:pPr>
            <a:r>
              <a:rPr lang="en-US" sz="1200" dirty="0">
                <a:solidFill>
                  <a:srgbClr val="F4F6F2"/>
                </a:solidFill>
                <a:latin typeface="Calibri" pitchFamily="34" charset="0"/>
                <a:ea typeface="Calibri" pitchFamily="34" charset="-122"/>
                <a:cs typeface="Calibri" pitchFamily="34" charset="-120"/>
              </a:rPr>
              <a:t>Older players show wide variance — a few veterans retain elite value.</a:t>
            </a:r>
            <a:endParaRPr lang="en-US" sz="1200" dirty="0"/>
          </a:p>
        </p:txBody>
      </p:sp>
      <p:sp>
        <p:nvSpPr>
          <p:cNvPr id="10" name="Text 7"/>
          <p:cNvSpPr/>
          <p:nvPr/>
        </p:nvSpPr>
        <p:spPr>
          <a:xfrm>
            <a:off x="8275320" y="4023360"/>
            <a:ext cx="3063240" cy="914400"/>
          </a:xfrm>
          <a:prstGeom prst="rect">
            <a:avLst/>
          </a:prstGeom>
          <a:noFill/>
          <a:ln/>
        </p:spPr>
        <p:txBody>
          <a:bodyPr wrap="square" lIns="0" tIns="0" rIns="0" bIns="0" rtlCol="0" anchor="ctr"/>
          <a:lstStyle/>
          <a:p>
            <a:pPr marL="342900" indent="-342900">
              <a:lnSpc>
                <a:spcPct val="125000"/>
              </a:lnSpc>
              <a:buSzPct val="100000"/>
              <a:buChar char="•"/>
            </a:pPr>
            <a:r>
              <a:rPr lang="en-US" sz="1200" dirty="0">
                <a:solidFill>
                  <a:srgbClr val="F4F6F2"/>
                </a:solidFill>
                <a:latin typeface="Calibri" pitchFamily="34" charset="0"/>
                <a:ea typeface="Calibri" pitchFamily="34" charset="-122"/>
                <a:cs typeface="Calibri" pitchFamily="34" charset="-120"/>
              </a:rPr>
              <a:t>The relationship is non-linear, motivating tree-based models over pure linear regression.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2"/>
        </a:solidFill>
        <a:effectLst/>
      </p:bgPr>
    </p:bg>
    <p:spTree>
      <p:nvGrpSpPr>
        <p:cNvPr id="1" name=""/>
        <p:cNvGrpSpPr/>
        <p:nvPr/>
      </p:nvGrpSpPr>
      <p:grpSpPr>
        <a:xfrm>
          <a:off x="0" y="0"/>
          <a:ext cx="0" cy="0"/>
          <a:chOff x="0" y="0"/>
          <a:chExt cx="0" cy="0"/>
        </a:xfrm>
      </p:grpSpPr>
      <p:sp>
        <p:nvSpPr>
          <p:cNvPr id="2" name="Text 0"/>
          <p:cNvSpPr/>
          <p:nvPr/>
        </p:nvSpPr>
        <p:spPr>
          <a:xfrm>
            <a:off x="640080" y="457200"/>
            <a:ext cx="6400800" cy="640080"/>
          </a:xfrm>
          <a:prstGeom prst="rect">
            <a:avLst/>
          </a:prstGeom>
          <a:noFill/>
          <a:ln/>
        </p:spPr>
        <p:txBody>
          <a:bodyPr wrap="square" lIns="0" tIns="0" rIns="0" bIns="0" rtlCol="0" anchor="ctr"/>
          <a:lstStyle/>
          <a:p>
            <a:pPr marL="0" indent="0">
              <a:buNone/>
            </a:pPr>
            <a:r>
              <a:rPr lang="en-US" sz="3000" b="1" dirty="0">
                <a:solidFill>
                  <a:srgbClr val="1C2B24"/>
                </a:solidFill>
                <a:latin typeface="Cambria" pitchFamily="34" charset="0"/>
                <a:ea typeface="Cambria" pitchFamily="34" charset="-122"/>
                <a:cs typeface="Cambria" pitchFamily="34" charset="-120"/>
              </a:rPr>
              <a:t>Key Visualizations</a:t>
            </a:r>
            <a:endParaRPr lang="en-US" sz="3000" dirty="0"/>
          </a:p>
        </p:txBody>
      </p:sp>
      <p:sp>
        <p:nvSpPr>
          <p:cNvPr id="3" name="Text 1"/>
          <p:cNvSpPr/>
          <p:nvPr/>
        </p:nvSpPr>
        <p:spPr>
          <a:xfrm>
            <a:off x="640080" y="1051560"/>
            <a:ext cx="7315200" cy="365760"/>
          </a:xfrm>
          <a:prstGeom prst="rect">
            <a:avLst/>
          </a:prstGeom>
          <a:noFill/>
          <a:ln/>
        </p:spPr>
        <p:txBody>
          <a:bodyPr wrap="square" lIns="0" tIns="0" rIns="0" bIns="0" rtlCol="0" anchor="ctr"/>
          <a:lstStyle/>
          <a:p>
            <a:pPr marL="0" indent="0">
              <a:buNone/>
            </a:pPr>
            <a:r>
              <a:rPr lang="en-US" sz="1350" i="1" dirty="0">
                <a:solidFill>
                  <a:srgbClr val="5B6D63"/>
                </a:solidFill>
                <a:latin typeface="Calibri" pitchFamily="34" charset="0"/>
                <a:ea typeface="Calibri" pitchFamily="34" charset="-122"/>
                <a:cs typeface="Calibri" pitchFamily="34" charset="-120"/>
              </a:rPr>
              <a:t>Which performance features actually move the needle on value?</a:t>
            </a:r>
            <a:endParaRPr lang="en-US" sz="1350" dirty="0"/>
          </a:p>
        </p:txBody>
      </p:sp>
      <p:sp>
        <p:nvSpPr>
          <p:cNvPr id="4" name="Shape 2"/>
          <p:cNvSpPr/>
          <p:nvPr/>
        </p:nvSpPr>
        <p:spPr>
          <a:xfrm>
            <a:off x="548640" y="1600200"/>
            <a:ext cx="5836166" cy="4617720"/>
          </a:xfrm>
          <a:prstGeom prst="roundRect">
            <a:avLst>
              <a:gd name="adj" fmla="val 1584"/>
            </a:avLst>
          </a:prstGeom>
          <a:solidFill>
            <a:srgbClr val="FFFFFF"/>
          </a:solidFill>
          <a:ln/>
          <a:effectLst>
            <a:outerShdw blurRad="76200" dist="25400" dir="2700000" algn="bl" rotWithShape="0">
              <a:srgbClr val="000000">
                <a:alpha val="10000"/>
              </a:srgbClr>
            </a:outerShdw>
          </a:effectLst>
        </p:spPr>
        <p:txBody>
          <a:bodyPr/>
          <a:lstStyle/>
          <a:p>
            <a:endParaRPr lang="en-US"/>
          </a:p>
        </p:txBody>
      </p:sp>
      <p:pic>
        <p:nvPicPr>
          <p:cNvPr id="5" name="Image 0" descr="corr_heatmap.png"/>
          <p:cNvPicPr>
            <a:picLocks noChangeAspect="1"/>
          </p:cNvPicPr>
          <p:nvPr/>
        </p:nvPicPr>
        <p:blipFill>
          <a:blip r:embed="rId3"/>
          <a:stretch>
            <a:fillRect/>
          </a:stretch>
        </p:blipFill>
        <p:spPr>
          <a:xfrm>
            <a:off x="640080" y="1691640"/>
            <a:ext cx="5653286" cy="4434840"/>
          </a:xfrm>
          <a:prstGeom prst="rect">
            <a:avLst/>
          </a:prstGeom>
        </p:spPr>
      </p:pic>
      <p:sp>
        <p:nvSpPr>
          <p:cNvPr id="6" name="Shape 3"/>
          <p:cNvSpPr/>
          <p:nvPr/>
        </p:nvSpPr>
        <p:spPr>
          <a:xfrm>
            <a:off x="6613406" y="1600200"/>
            <a:ext cx="4359394" cy="4617720"/>
          </a:xfrm>
          <a:prstGeom prst="roundRect">
            <a:avLst>
              <a:gd name="adj" fmla="val 2517"/>
            </a:avLst>
          </a:prstGeom>
          <a:solidFill>
            <a:srgbClr val="0E3B2E"/>
          </a:solidFill>
          <a:ln/>
        </p:spPr>
        <p:txBody>
          <a:bodyPr/>
          <a:lstStyle/>
          <a:p>
            <a:endParaRPr lang="en-US"/>
          </a:p>
        </p:txBody>
      </p:sp>
      <p:sp>
        <p:nvSpPr>
          <p:cNvPr id="7" name="Text 4"/>
          <p:cNvSpPr/>
          <p:nvPr/>
        </p:nvSpPr>
        <p:spPr>
          <a:xfrm>
            <a:off x="6887726" y="1783080"/>
            <a:ext cx="3810754" cy="320040"/>
          </a:xfrm>
          <a:prstGeom prst="rect">
            <a:avLst/>
          </a:prstGeom>
          <a:noFill/>
          <a:ln/>
        </p:spPr>
        <p:txBody>
          <a:bodyPr wrap="square" lIns="0" tIns="0" rIns="0" bIns="0" rtlCol="0" anchor="ctr"/>
          <a:lstStyle/>
          <a:p>
            <a:pPr marL="0" indent="0">
              <a:buNone/>
            </a:pPr>
            <a:r>
              <a:rPr lang="en-US" sz="1200" b="1" kern="0" spc="100" dirty="0">
                <a:solidFill>
                  <a:srgbClr val="D4A017"/>
                </a:solidFill>
                <a:latin typeface="Calibri" pitchFamily="34" charset="0"/>
                <a:ea typeface="Calibri" pitchFamily="34" charset="-122"/>
                <a:cs typeface="Calibri" pitchFamily="34" charset="-120"/>
              </a:rPr>
              <a:t>TAKEAWAYS</a:t>
            </a:r>
            <a:endParaRPr lang="en-US" sz="1200" dirty="0"/>
          </a:p>
        </p:txBody>
      </p:sp>
      <p:sp>
        <p:nvSpPr>
          <p:cNvPr id="8" name="Text 5"/>
          <p:cNvSpPr/>
          <p:nvPr/>
        </p:nvSpPr>
        <p:spPr>
          <a:xfrm>
            <a:off x="6887726" y="2194560"/>
            <a:ext cx="3810754" cy="960120"/>
          </a:xfrm>
          <a:prstGeom prst="rect">
            <a:avLst/>
          </a:prstGeom>
          <a:noFill/>
          <a:ln/>
        </p:spPr>
        <p:txBody>
          <a:bodyPr wrap="square" lIns="0" tIns="0" rIns="0" bIns="0" rtlCol="0" anchor="ctr"/>
          <a:lstStyle/>
          <a:p>
            <a:pPr marL="342900" indent="-342900">
              <a:lnSpc>
                <a:spcPct val="125000"/>
              </a:lnSpc>
              <a:buSzPct val="100000"/>
              <a:buChar char="•"/>
            </a:pPr>
            <a:r>
              <a:rPr lang="en-US" sz="1600" dirty="0">
                <a:solidFill>
                  <a:srgbClr val="F4F6F2"/>
                </a:solidFill>
                <a:latin typeface="Calibri" pitchFamily="34" charset="0"/>
                <a:ea typeface="Calibri" pitchFamily="34" charset="-122"/>
                <a:cs typeface="Calibri" pitchFamily="34" charset="-120"/>
              </a:rPr>
              <a:t>Minutes played and goals show the strongest positive correlation with market value.</a:t>
            </a:r>
            <a:endParaRPr lang="en-US" sz="1600" dirty="0"/>
          </a:p>
        </p:txBody>
      </p:sp>
      <p:sp>
        <p:nvSpPr>
          <p:cNvPr id="9" name="Text 6"/>
          <p:cNvSpPr/>
          <p:nvPr/>
        </p:nvSpPr>
        <p:spPr>
          <a:xfrm>
            <a:off x="6887726" y="3356221"/>
            <a:ext cx="3810754" cy="960120"/>
          </a:xfrm>
          <a:prstGeom prst="rect">
            <a:avLst/>
          </a:prstGeom>
          <a:noFill/>
          <a:ln/>
        </p:spPr>
        <p:txBody>
          <a:bodyPr wrap="square" lIns="0" tIns="0" rIns="0" bIns="0" rtlCol="0" anchor="ctr"/>
          <a:lstStyle/>
          <a:p>
            <a:pPr marL="342900" indent="-342900">
              <a:lnSpc>
                <a:spcPct val="125000"/>
              </a:lnSpc>
              <a:buSzPct val="100000"/>
              <a:buChar char="•"/>
            </a:pPr>
            <a:r>
              <a:rPr lang="en-US" sz="1600" dirty="0">
                <a:solidFill>
                  <a:srgbClr val="F4F6F2"/>
                </a:solidFill>
                <a:latin typeface="Calibri" pitchFamily="34" charset="0"/>
                <a:ea typeface="Calibri" pitchFamily="34" charset="-122"/>
                <a:cs typeface="Calibri" pitchFamily="34" charset="-120"/>
              </a:rPr>
              <a:t>Assists correlate positively but less strongly than direct goal output.</a:t>
            </a:r>
            <a:endParaRPr lang="en-US" sz="1600" dirty="0"/>
          </a:p>
        </p:txBody>
      </p:sp>
      <p:sp>
        <p:nvSpPr>
          <p:cNvPr id="10" name="Text 7"/>
          <p:cNvSpPr/>
          <p:nvPr/>
        </p:nvSpPr>
        <p:spPr>
          <a:xfrm>
            <a:off x="6887726" y="4594860"/>
            <a:ext cx="3810754" cy="960120"/>
          </a:xfrm>
          <a:prstGeom prst="rect">
            <a:avLst/>
          </a:prstGeom>
          <a:noFill/>
          <a:ln/>
        </p:spPr>
        <p:txBody>
          <a:bodyPr wrap="square" lIns="0" tIns="0" rIns="0" bIns="0" rtlCol="0" anchor="ctr"/>
          <a:lstStyle/>
          <a:p>
            <a:pPr marL="342900" indent="-342900">
              <a:lnSpc>
                <a:spcPct val="125000"/>
              </a:lnSpc>
              <a:buSzPct val="100000"/>
              <a:buChar char="•"/>
            </a:pPr>
            <a:r>
              <a:rPr lang="en-US" sz="1600" dirty="0">
                <a:solidFill>
                  <a:srgbClr val="F4F6F2"/>
                </a:solidFill>
                <a:latin typeface="Calibri" pitchFamily="34" charset="0"/>
                <a:ea typeface="Calibri" pitchFamily="34" charset="-122"/>
                <a:cs typeface="Calibri" pitchFamily="34" charset="-120"/>
              </a:rPr>
              <a:t>Age has a much weaker linear correlation — confirming its relationship with value is non-linear (see previous slide).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2"/>
        </a:solidFill>
        <a:effectLst/>
      </p:bgPr>
    </p:bg>
    <p:spTree>
      <p:nvGrpSpPr>
        <p:cNvPr id="1" name=""/>
        <p:cNvGrpSpPr/>
        <p:nvPr/>
      </p:nvGrpSpPr>
      <p:grpSpPr>
        <a:xfrm>
          <a:off x="0" y="0"/>
          <a:ext cx="0" cy="0"/>
          <a:chOff x="0" y="0"/>
          <a:chExt cx="0" cy="0"/>
        </a:xfrm>
      </p:grpSpPr>
      <p:sp>
        <p:nvSpPr>
          <p:cNvPr id="2" name="Text 0"/>
          <p:cNvSpPr/>
          <p:nvPr/>
        </p:nvSpPr>
        <p:spPr>
          <a:xfrm>
            <a:off x="437788" y="1399592"/>
            <a:ext cx="3566160" cy="640080"/>
          </a:xfrm>
          <a:prstGeom prst="rect">
            <a:avLst/>
          </a:prstGeom>
          <a:noFill/>
          <a:ln/>
        </p:spPr>
        <p:txBody>
          <a:bodyPr wrap="square" lIns="0" tIns="0" rIns="0" bIns="0" rtlCol="0" anchor="ctr"/>
          <a:lstStyle/>
          <a:p>
            <a:pPr marL="0" indent="0">
              <a:buNone/>
            </a:pPr>
            <a:r>
              <a:rPr lang="en-US" sz="3000" b="1" dirty="0">
                <a:solidFill>
                  <a:srgbClr val="1C2B24"/>
                </a:solidFill>
                <a:latin typeface="Cambria" pitchFamily="34" charset="0"/>
                <a:ea typeface="Cambria" pitchFamily="34" charset="-122"/>
                <a:cs typeface="Cambria" pitchFamily="34" charset="-120"/>
              </a:rPr>
              <a:t>Model Comparison</a:t>
            </a:r>
            <a:endParaRPr lang="en-US" sz="3000" dirty="0"/>
          </a:p>
        </p:txBody>
      </p:sp>
      <p:sp>
        <p:nvSpPr>
          <p:cNvPr id="3" name="Text 1"/>
          <p:cNvSpPr/>
          <p:nvPr/>
        </p:nvSpPr>
        <p:spPr>
          <a:xfrm>
            <a:off x="437788" y="1954593"/>
            <a:ext cx="2911902" cy="365760"/>
          </a:xfrm>
          <a:prstGeom prst="rect">
            <a:avLst/>
          </a:prstGeom>
          <a:noFill/>
          <a:ln/>
        </p:spPr>
        <p:txBody>
          <a:bodyPr wrap="square" lIns="0" tIns="0" rIns="0" bIns="0" rtlCol="0" anchor="ctr"/>
          <a:lstStyle/>
          <a:p>
            <a:pPr marL="0" indent="0">
              <a:buNone/>
            </a:pPr>
            <a:r>
              <a:rPr lang="en-US" sz="1350" i="1" dirty="0">
                <a:solidFill>
                  <a:srgbClr val="5B6D63"/>
                </a:solidFill>
                <a:latin typeface="Calibri" pitchFamily="34" charset="0"/>
                <a:ea typeface="Calibri" pitchFamily="34" charset="-122"/>
                <a:cs typeface="Calibri" pitchFamily="34" charset="-120"/>
              </a:rPr>
              <a:t>Four regressors, evaluated on the same held-out test set</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238320387"/>
              </p:ext>
            </p:extLst>
          </p:nvPr>
        </p:nvGraphicFramePr>
        <p:xfrm>
          <a:off x="4633866" y="252625"/>
          <a:ext cx="3886200" cy="2232572"/>
        </p:xfrm>
        <a:graphic>
          <a:graphicData uri="http://schemas.openxmlformats.org/drawingml/2006/table">
            <a:tbl>
              <a:tblPr/>
              <a:tblGrid>
                <a:gridCol w="137160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tblGrid>
              <a:tr h="403772">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anchor="ctr">
                    <a:lnL w="9525" cap="flat" cmpd="sng" algn="ctr">
                      <a:solidFill>
                        <a:srgbClr val="E3E7E1"/>
                      </a:solidFill>
                      <a:prstDash val="solid"/>
                      <a:round/>
                      <a:headEnd type="none" w="med" len="med"/>
                      <a:tailEnd type="none" w="med" len="med"/>
                    </a:lnL>
                    <a:lnR w="9525" cap="flat" cmpd="sng" algn="ctr">
                      <a:solidFill>
                        <a:srgbClr val="E3E7E1"/>
                      </a:solidFill>
                      <a:prstDash val="solid"/>
                      <a:round/>
                      <a:headEnd type="none" w="med" len="med"/>
                      <a:tailEnd type="none" w="med" len="med"/>
                    </a:lnR>
                    <a:lnT w="9525" cap="flat" cmpd="sng" algn="ctr">
                      <a:solidFill>
                        <a:srgbClr val="E3E7E1"/>
                      </a:solidFill>
                      <a:prstDash val="solid"/>
                      <a:round/>
                      <a:headEnd type="none" w="med" len="med"/>
                      <a:tailEnd type="none" w="med" len="med"/>
                    </a:lnT>
                    <a:lnB w="9525" cap="flat" cmpd="sng" algn="ctr">
                      <a:solidFill>
                        <a:srgbClr val="E3E7E1"/>
                      </a:solidFill>
                      <a:prstDash val="solid"/>
                      <a:round/>
                      <a:headEnd type="none" w="med" len="med"/>
                      <a:tailEnd type="none" w="med" len="med"/>
                    </a:lnB>
                    <a:solidFill>
                      <a:srgbClr val="1B4332"/>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MAE (€)</a:t>
                      </a:r>
                      <a:endParaRPr lang="en-US" sz="1100" dirty="0">
                        <a:latin typeface="Calibri" charset="0"/>
                        <a:ea typeface="Calibri" charset="0"/>
                        <a:cs typeface="Calibri" charset="0"/>
                      </a:endParaRPr>
                    </a:p>
                  </a:txBody>
                  <a:tcPr anchor="ctr">
                    <a:lnL w="9525" cap="flat" cmpd="sng" algn="ctr">
                      <a:solidFill>
                        <a:srgbClr val="E3E7E1"/>
                      </a:solidFill>
                      <a:prstDash val="solid"/>
                      <a:round/>
                      <a:headEnd type="none" w="med" len="med"/>
                      <a:tailEnd type="none" w="med" len="med"/>
                    </a:lnL>
                    <a:lnR w="9525" cap="flat" cmpd="sng" algn="ctr">
                      <a:solidFill>
                        <a:srgbClr val="E3E7E1"/>
                      </a:solidFill>
                      <a:prstDash val="solid"/>
                      <a:round/>
                      <a:headEnd type="none" w="med" len="med"/>
                      <a:tailEnd type="none" w="med" len="med"/>
                    </a:lnR>
                    <a:lnT w="9525" cap="flat" cmpd="sng" algn="ctr">
                      <a:solidFill>
                        <a:srgbClr val="E3E7E1"/>
                      </a:solidFill>
                      <a:prstDash val="solid"/>
                      <a:round/>
                      <a:headEnd type="none" w="med" len="med"/>
                      <a:tailEnd type="none" w="med" len="med"/>
                    </a:lnT>
                    <a:lnB w="9525" cap="flat" cmpd="sng" algn="ctr">
                      <a:solidFill>
                        <a:srgbClr val="E3E7E1"/>
                      </a:solidFill>
                      <a:prstDash val="solid"/>
                      <a:round/>
                      <a:headEnd type="none" w="med" len="med"/>
                      <a:tailEnd type="none" w="med" len="med"/>
                    </a:lnB>
                    <a:solidFill>
                      <a:srgbClr val="1B4332"/>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RMSE (€)</a:t>
                      </a:r>
                      <a:endParaRPr lang="en-US" sz="1100" dirty="0">
                        <a:latin typeface="Calibri" charset="0"/>
                        <a:ea typeface="Calibri" charset="0"/>
                        <a:cs typeface="Calibri" charset="0"/>
                      </a:endParaRPr>
                    </a:p>
                  </a:txBody>
                  <a:tcPr anchor="ctr">
                    <a:lnL w="9525" cap="flat" cmpd="sng" algn="ctr">
                      <a:solidFill>
                        <a:srgbClr val="E3E7E1"/>
                      </a:solidFill>
                      <a:prstDash val="solid"/>
                      <a:round/>
                      <a:headEnd type="none" w="med" len="med"/>
                      <a:tailEnd type="none" w="med" len="med"/>
                    </a:lnL>
                    <a:lnR w="9525" cap="flat" cmpd="sng" algn="ctr">
                      <a:solidFill>
                        <a:srgbClr val="E3E7E1"/>
                      </a:solidFill>
                      <a:prstDash val="solid"/>
                      <a:round/>
                      <a:headEnd type="none" w="med" len="med"/>
                      <a:tailEnd type="none" w="med" len="med"/>
                    </a:lnR>
                    <a:lnT w="9525" cap="flat" cmpd="sng" algn="ctr">
                      <a:solidFill>
                        <a:srgbClr val="E3E7E1"/>
                      </a:solidFill>
                      <a:prstDash val="solid"/>
                      <a:round/>
                      <a:headEnd type="none" w="med" len="med"/>
                      <a:tailEnd type="none" w="med" len="med"/>
                    </a:lnT>
                    <a:lnB w="9525" cap="flat" cmpd="sng" algn="ctr">
                      <a:solidFill>
                        <a:srgbClr val="E3E7E1"/>
                      </a:solidFill>
                      <a:prstDash val="solid"/>
                      <a:round/>
                      <a:headEnd type="none" w="med" len="med"/>
                      <a:tailEnd type="none" w="med" len="med"/>
                    </a:lnB>
                    <a:solidFill>
                      <a:srgbClr val="1B4332"/>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Test R²</a:t>
                      </a:r>
                      <a:endParaRPr lang="en-US" sz="1100" dirty="0">
                        <a:latin typeface="Calibri" charset="0"/>
                        <a:ea typeface="Calibri" charset="0"/>
                        <a:cs typeface="Calibri" charset="0"/>
                      </a:endParaRPr>
                    </a:p>
                  </a:txBody>
                  <a:tcPr anchor="ctr">
                    <a:lnL w="9525" cap="flat" cmpd="sng" algn="ctr">
                      <a:solidFill>
                        <a:srgbClr val="E3E7E1"/>
                      </a:solidFill>
                      <a:prstDash val="solid"/>
                      <a:round/>
                      <a:headEnd type="none" w="med" len="med"/>
                      <a:tailEnd type="none" w="med" len="med"/>
                    </a:lnL>
                    <a:lnR w="9525" cap="flat" cmpd="sng" algn="ctr">
                      <a:solidFill>
                        <a:srgbClr val="E3E7E1"/>
                      </a:solidFill>
                      <a:prstDash val="solid"/>
                      <a:round/>
                      <a:headEnd type="none" w="med" len="med"/>
                      <a:tailEnd type="none" w="med" len="med"/>
                    </a:lnR>
                    <a:lnT w="9525" cap="flat" cmpd="sng" algn="ctr">
                      <a:solidFill>
                        <a:srgbClr val="E3E7E1"/>
                      </a:solidFill>
                      <a:prstDash val="solid"/>
                      <a:round/>
                      <a:headEnd type="none" w="med" len="med"/>
                      <a:tailEnd type="none" w="med" len="med"/>
                    </a:lnT>
                    <a:lnB w="9525" cap="flat" cmpd="sng" algn="ctr">
                      <a:solidFill>
                        <a:srgbClr val="E3E7E1"/>
                      </a:solidFill>
                      <a:prstDash val="solid"/>
                      <a:round/>
                      <a:headEnd type="none" w="med" len="med"/>
                      <a:tailEnd type="none" w="med" len="med"/>
                    </a:lnB>
                    <a:solidFill>
                      <a:srgbClr val="1B4332"/>
                    </a:solidFill>
                  </a:tcPr>
                </a:tc>
                <a:extLst>
                  <a:ext uri="{0D108BD9-81ED-4DB2-BD59-A6C34878D82A}">
                    <a16:rowId xmlns:a16="http://schemas.microsoft.com/office/drawing/2014/main" val="10000"/>
                  </a:ext>
                </a:extLst>
              </a:tr>
              <a:tr h="457200">
                <a:tc>
                  <a:txBody>
                    <a:bodyPr/>
                    <a:lstStyle/>
                    <a:p>
                      <a:pPr marL="0" indent="0" algn="ctr">
                        <a:buNone/>
                      </a:pPr>
                      <a:r>
                        <a:rPr lang="en-US" sz="1050" dirty="0">
                          <a:solidFill>
                            <a:srgbClr val="1C2B24"/>
                          </a:solidFill>
                          <a:latin typeface="Calibri" pitchFamily="34" charset="0"/>
                          <a:ea typeface="Calibri" pitchFamily="34" charset="-122"/>
                          <a:cs typeface="Calibri" pitchFamily="34" charset="-120"/>
                        </a:rPr>
                        <a:t>Ridge Baseline</a:t>
                      </a:r>
                      <a:endParaRPr lang="en-US" sz="1050" dirty="0">
                        <a:latin typeface="Calibri" charset="0"/>
                        <a:ea typeface="Calibri" charset="0"/>
                        <a:cs typeface="Calibri" charset="0"/>
                      </a:endParaRPr>
                    </a:p>
                  </a:txBody>
                  <a:tcPr anchor="ctr">
                    <a:lnL w="9525" cap="flat" cmpd="sng" algn="ctr">
                      <a:solidFill>
                        <a:srgbClr val="E3E7E1"/>
                      </a:solidFill>
                      <a:prstDash val="solid"/>
                      <a:round/>
                      <a:headEnd type="none" w="med" len="med"/>
                      <a:tailEnd type="none" w="med" len="med"/>
                    </a:lnL>
                    <a:lnR w="9525" cap="flat" cmpd="sng" algn="ctr">
                      <a:solidFill>
                        <a:srgbClr val="E3E7E1"/>
                      </a:solidFill>
                      <a:prstDash val="solid"/>
                      <a:round/>
                      <a:headEnd type="none" w="med" len="med"/>
                      <a:tailEnd type="none" w="med" len="med"/>
                    </a:lnR>
                    <a:lnT w="9525" cap="flat" cmpd="sng" algn="ctr">
                      <a:solidFill>
                        <a:srgbClr val="E3E7E1"/>
                      </a:solidFill>
                      <a:prstDash val="solid"/>
                      <a:round/>
                      <a:headEnd type="none" w="med" len="med"/>
                      <a:tailEnd type="none" w="med" len="med"/>
                    </a:lnT>
                    <a:lnB w="9525" cap="flat" cmpd="sng" algn="ctr">
                      <a:solidFill>
                        <a:srgbClr val="E3E7E1"/>
                      </a:solidFill>
                      <a:prstDash val="solid"/>
                      <a:round/>
                      <a:headEnd type="none" w="med" len="med"/>
                      <a:tailEnd type="none" w="med" len="med"/>
                    </a:lnB>
                  </a:tcPr>
                </a:tc>
                <a:tc>
                  <a:txBody>
                    <a:bodyPr/>
                    <a:lstStyle/>
                    <a:p>
                      <a:pPr marL="0" indent="0" algn="ctr">
                        <a:buNone/>
                      </a:pPr>
                      <a:r>
                        <a:rPr lang="en-US" sz="1050" dirty="0">
                          <a:solidFill>
                            <a:srgbClr val="1C2B24"/>
                          </a:solidFill>
                          <a:latin typeface="Calibri" pitchFamily="34" charset="0"/>
                          <a:ea typeface="Calibri" pitchFamily="34" charset="-122"/>
                          <a:cs typeface="Calibri" pitchFamily="34" charset="-120"/>
                        </a:rPr>
                        <a:t>2,648,437</a:t>
                      </a:r>
                      <a:endParaRPr lang="en-US" sz="1050" dirty="0">
                        <a:latin typeface="Calibri" charset="0"/>
                        <a:ea typeface="Calibri" charset="0"/>
                        <a:cs typeface="Calibri" charset="0"/>
                      </a:endParaRPr>
                    </a:p>
                  </a:txBody>
                  <a:tcPr anchor="ctr">
                    <a:lnL w="9525" cap="flat" cmpd="sng" algn="ctr">
                      <a:solidFill>
                        <a:srgbClr val="E3E7E1"/>
                      </a:solidFill>
                      <a:prstDash val="solid"/>
                      <a:round/>
                      <a:headEnd type="none" w="med" len="med"/>
                      <a:tailEnd type="none" w="med" len="med"/>
                    </a:lnL>
                    <a:lnR w="9525" cap="flat" cmpd="sng" algn="ctr">
                      <a:solidFill>
                        <a:srgbClr val="E3E7E1"/>
                      </a:solidFill>
                      <a:prstDash val="solid"/>
                      <a:round/>
                      <a:headEnd type="none" w="med" len="med"/>
                      <a:tailEnd type="none" w="med" len="med"/>
                    </a:lnR>
                    <a:lnT w="9525" cap="flat" cmpd="sng" algn="ctr">
                      <a:solidFill>
                        <a:srgbClr val="E3E7E1"/>
                      </a:solidFill>
                      <a:prstDash val="solid"/>
                      <a:round/>
                      <a:headEnd type="none" w="med" len="med"/>
                      <a:tailEnd type="none" w="med" len="med"/>
                    </a:lnT>
                    <a:lnB w="9525" cap="flat" cmpd="sng" algn="ctr">
                      <a:solidFill>
                        <a:srgbClr val="E3E7E1"/>
                      </a:solidFill>
                      <a:prstDash val="solid"/>
                      <a:round/>
                      <a:headEnd type="none" w="med" len="med"/>
                      <a:tailEnd type="none" w="med" len="med"/>
                    </a:lnB>
                  </a:tcPr>
                </a:tc>
                <a:tc>
                  <a:txBody>
                    <a:bodyPr/>
                    <a:lstStyle/>
                    <a:p>
                      <a:pPr marL="0" indent="0" algn="ctr">
                        <a:buNone/>
                      </a:pPr>
                      <a:r>
                        <a:rPr lang="en-US" sz="1050" dirty="0">
                          <a:solidFill>
                            <a:srgbClr val="1C2B24"/>
                          </a:solidFill>
                          <a:latin typeface="Calibri" pitchFamily="34" charset="0"/>
                          <a:ea typeface="Calibri" pitchFamily="34" charset="-122"/>
                          <a:cs typeface="Calibri" pitchFamily="34" charset="-120"/>
                        </a:rPr>
                        <a:t>6,181,564</a:t>
                      </a:r>
                      <a:endParaRPr lang="en-US" sz="1050" dirty="0">
                        <a:latin typeface="Calibri" charset="0"/>
                        <a:ea typeface="Calibri" charset="0"/>
                        <a:cs typeface="Calibri" charset="0"/>
                      </a:endParaRPr>
                    </a:p>
                  </a:txBody>
                  <a:tcPr anchor="ctr">
                    <a:lnL w="9525" cap="flat" cmpd="sng" algn="ctr">
                      <a:solidFill>
                        <a:srgbClr val="E3E7E1"/>
                      </a:solidFill>
                      <a:prstDash val="solid"/>
                      <a:round/>
                      <a:headEnd type="none" w="med" len="med"/>
                      <a:tailEnd type="none" w="med" len="med"/>
                    </a:lnL>
                    <a:lnR w="9525" cap="flat" cmpd="sng" algn="ctr">
                      <a:solidFill>
                        <a:srgbClr val="E3E7E1"/>
                      </a:solidFill>
                      <a:prstDash val="solid"/>
                      <a:round/>
                      <a:headEnd type="none" w="med" len="med"/>
                      <a:tailEnd type="none" w="med" len="med"/>
                    </a:lnR>
                    <a:lnT w="9525" cap="flat" cmpd="sng" algn="ctr">
                      <a:solidFill>
                        <a:srgbClr val="E3E7E1"/>
                      </a:solidFill>
                      <a:prstDash val="solid"/>
                      <a:round/>
                      <a:headEnd type="none" w="med" len="med"/>
                      <a:tailEnd type="none" w="med" len="med"/>
                    </a:lnT>
                    <a:lnB w="9525" cap="flat" cmpd="sng" algn="ctr">
                      <a:solidFill>
                        <a:srgbClr val="E3E7E1"/>
                      </a:solidFill>
                      <a:prstDash val="solid"/>
                      <a:round/>
                      <a:headEnd type="none" w="med" len="med"/>
                      <a:tailEnd type="none" w="med" len="med"/>
                    </a:lnB>
                  </a:tcPr>
                </a:tc>
                <a:tc>
                  <a:txBody>
                    <a:bodyPr/>
                    <a:lstStyle/>
                    <a:p>
                      <a:pPr marL="0" indent="0" algn="ctr">
                        <a:buNone/>
                      </a:pPr>
                      <a:r>
                        <a:rPr lang="en-US" sz="1050" dirty="0">
                          <a:solidFill>
                            <a:srgbClr val="1C2B24"/>
                          </a:solidFill>
                          <a:latin typeface="Calibri" pitchFamily="34" charset="0"/>
                          <a:ea typeface="Calibri" pitchFamily="34" charset="-122"/>
                          <a:cs typeface="Calibri" pitchFamily="34" charset="-120"/>
                        </a:rPr>
                        <a:t>0.1582</a:t>
                      </a:r>
                      <a:endParaRPr lang="en-US" sz="1050" dirty="0">
                        <a:latin typeface="Calibri" charset="0"/>
                        <a:ea typeface="Calibri" charset="0"/>
                        <a:cs typeface="Calibri" charset="0"/>
                      </a:endParaRPr>
                    </a:p>
                  </a:txBody>
                  <a:tcPr anchor="ctr">
                    <a:lnL w="9525" cap="flat" cmpd="sng" algn="ctr">
                      <a:solidFill>
                        <a:srgbClr val="E3E7E1"/>
                      </a:solidFill>
                      <a:prstDash val="solid"/>
                      <a:round/>
                      <a:headEnd type="none" w="med" len="med"/>
                      <a:tailEnd type="none" w="med" len="med"/>
                    </a:lnL>
                    <a:lnR w="9525" cap="flat" cmpd="sng" algn="ctr">
                      <a:solidFill>
                        <a:srgbClr val="E3E7E1"/>
                      </a:solidFill>
                      <a:prstDash val="solid"/>
                      <a:round/>
                      <a:headEnd type="none" w="med" len="med"/>
                      <a:tailEnd type="none" w="med" len="med"/>
                    </a:lnR>
                    <a:lnT w="9525" cap="flat" cmpd="sng" algn="ctr">
                      <a:solidFill>
                        <a:srgbClr val="E3E7E1"/>
                      </a:solidFill>
                      <a:prstDash val="solid"/>
                      <a:round/>
                      <a:headEnd type="none" w="med" len="med"/>
                      <a:tailEnd type="none" w="med" len="med"/>
                    </a:lnT>
                    <a:lnB w="9525" cap="flat" cmpd="sng" algn="ctr">
                      <a:solidFill>
                        <a:srgbClr val="E3E7E1"/>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ctr">
                        <a:buNone/>
                      </a:pPr>
                      <a:r>
                        <a:rPr lang="en-US" sz="1050" b="1" dirty="0">
                          <a:solidFill>
                            <a:srgbClr val="1B4332"/>
                          </a:solidFill>
                          <a:latin typeface="Calibri" pitchFamily="34" charset="0"/>
                          <a:ea typeface="Calibri" pitchFamily="34" charset="-122"/>
                          <a:cs typeface="Calibri" pitchFamily="34" charset="-120"/>
                        </a:rPr>
                        <a:t>Random Forest</a:t>
                      </a:r>
                      <a:endParaRPr lang="en-US" sz="1050" dirty="0">
                        <a:latin typeface="Calibri" charset="0"/>
                        <a:ea typeface="Calibri" charset="0"/>
                        <a:cs typeface="Calibri" charset="0"/>
                      </a:endParaRPr>
                    </a:p>
                  </a:txBody>
                  <a:tcPr anchor="ctr">
                    <a:lnL w="9525" cap="flat" cmpd="sng" algn="ctr">
                      <a:solidFill>
                        <a:srgbClr val="E3E7E1"/>
                      </a:solidFill>
                      <a:prstDash val="solid"/>
                      <a:round/>
                      <a:headEnd type="none" w="med" len="med"/>
                      <a:tailEnd type="none" w="med" len="med"/>
                    </a:lnL>
                    <a:lnR w="9525" cap="flat" cmpd="sng" algn="ctr">
                      <a:solidFill>
                        <a:srgbClr val="E3E7E1"/>
                      </a:solidFill>
                      <a:prstDash val="solid"/>
                      <a:round/>
                      <a:headEnd type="none" w="med" len="med"/>
                      <a:tailEnd type="none" w="med" len="med"/>
                    </a:lnR>
                    <a:lnT w="9525" cap="flat" cmpd="sng" algn="ctr">
                      <a:solidFill>
                        <a:srgbClr val="E3E7E1"/>
                      </a:solidFill>
                      <a:prstDash val="solid"/>
                      <a:round/>
                      <a:headEnd type="none" w="med" len="med"/>
                      <a:tailEnd type="none" w="med" len="med"/>
                    </a:lnT>
                    <a:lnB w="9525" cap="flat" cmpd="sng" algn="ctr">
                      <a:solidFill>
                        <a:srgbClr val="E3E7E1"/>
                      </a:solidFill>
                      <a:prstDash val="solid"/>
                      <a:round/>
                      <a:headEnd type="none" w="med" len="med"/>
                      <a:tailEnd type="none" w="med" len="med"/>
                    </a:lnB>
                    <a:solidFill>
                      <a:srgbClr val="E4EFE8"/>
                    </a:solidFill>
                  </a:tcPr>
                </a:tc>
                <a:tc>
                  <a:txBody>
                    <a:bodyPr/>
                    <a:lstStyle/>
                    <a:p>
                      <a:pPr marL="0" indent="0" algn="ctr">
                        <a:buNone/>
                      </a:pPr>
                      <a:r>
                        <a:rPr lang="en-US" sz="1050" b="1" dirty="0">
                          <a:solidFill>
                            <a:srgbClr val="1B4332"/>
                          </a:solidFill>
                          <a:latin typeface="Calibri" pitchFamily="34" charset="0"/>
                          <a:ea typeface="Calibri" pitchFamily="34" charset="-122"/>
                          <a:cs typeface="Calibri" pitchFamily="34" charset="-120"/>
                        </a:rPr>
                        <a:t>1,485,391</a:t>
                      </a:r>
                      <a:endParaRPr lang="en-US" sz="1050" dirty="0">
                        <a:latin typeface="Calibri" charset="0"/>
                        <a:ea typeface="Calibri" charset="0"/>
                        <a:cs typeface="Calibri" charset="0"/>
                      </a:endParaRPr>
                    </a:p>
                  </a:txBody>
                  <a:tcPr anchor="ctr">
                    <a:lnL w="9525" cap="flat" cmpd="sng" algn="ctr">
                      <a:solidFill>
                        <a:srgbClr val="E3E7E1"/>
                      </a:solidFill>
                      <a:prstDash val="solid"/>
                      <a:round/>
                      <a:headEnd type="none" w="med" len="med"/>
                      <a:tailEnd type="none" w="med" len="med"/>
                    </a:lnL>
                    <a:lnR w="9525" cap="flat" cmpd="sng" algn="ctr">
                      <a:solidFill>
                        <a:srgbClr val="E3E7E1"/>
                      </a:solidFill>
                      <a:prstDash val="solid"/>
                      <a:round/>
                      <a:headEnd type="none" w="med" len="med"/>
                      <a:tailEnd type="none" w="med" len="med"/>
                    </a:lnR>
                    <a:lnT w="9525" cap="flat" cmpd="sng" algn="ctr">
                      <a:solidFill>
                        <a:srgbClr val="E3E7E1"/>
                      </a:solidFill>
                      <a:prstDash val="solid"/>
                      <a:round/>
                      <a:headEnd type="none" w="med" len="med"/>
                      <a:tailEnd type="none" w="med" len="med"/>
                    </a:lnT>
                    <a:lnB w="9525" cap="flat" cmpd="sng" algn="ctr">
                      <a:solidFill>
                        <a:srgbClr val="E3E7E1"/>
                      </a:solidFill>
                      <a:prstDash val="solid"/>
                      <a:round/>
                      <a:headEnd type="none" w="med" len="med"/>
                      <a:tailEnd type="none" w="med" len="med"/>
                    </a:lnB>
                    <a:solidFill>
                      <a:srgbClr val="E4EFE8"/>
                    </a:solidFill>
                  </a:tcPr>
                </a:tc>
                <a:tc>
                  <a:txBody>
                    <a:bodyPr/>
                    <a:lstStyle/>
                    <a:p>
                      <a:pPr marL="0" indent="0" algn="ctr">
                        <a:buNone/>
                      </a:pPr>
                      <a:r>
                        <a:rPr lang="en-US" sz="1050" b="1" dirty="0">
                          <a:solidFill>
                            <a:srgbClr val="1B4332"/>
                          </a:solidFill>
                          <a:latin typeface="Calibri" pitchFamily="34" charset="0"/>
                          <a:ea typeface="Calibri" pitchFamily="34" charset="-122"/>
                          <a:cs typeface="Calibri" pitchFamily="34" charset="-120"/>
                        </a:rPr>
                        <a:t>4,510,616</a:t>
                      </a:r>
                      <a:endParaRPr lang="en-US" sz="1050" dirty="0">
                        <a:latin typeface="Calibri" charset="0"/>
                        <a:ea typeface="Calibri" charset="0"/>
                        <a:cs typeface="Calibri" charset="0"/>
                      </a:endParaRPr>
                    </a:p>
                  </a:txBody>
                  <a:tcPr anchor="ctr">
                    <a:lnL w="9525" cap="flat" cmpd="sng" algn="ctr">
                      <a:solidFill>
                        <a:srgbClr val="E3E7E1"/>
                      </a:solidFill>
                      <a:prstDash val="solid"/>
                      <a:round/>
                      <a:headEnd type="none" w="med" len="med"/>
                      <a:tailEnd type="none" w="med" len="med"/>
                    </a:lnL>
                    <a:lnR w="9525" cap="flat" cmpd="sng" algn="ctr">
                      <a:solidFill>
                        <a:srgbClr val="E3E7E1"/>
                      </a:solidFill>
                      <a:prstDash val="solid"/>
                      <a:round/>
                      <a:headEnd type="none" w="med" len="med"/>
                      <a:tailEnd type="none" w="med" len="med"/>
                    </a:lnR>
                    <a:lnT w="9525" cap="flat" cmpd="sng" algn="ctr">
                      <a:solidFill>
                        <a:srgbClr val="E3E7E1"/>
                      </a:solidFill>
                      <a:prstDash val="solid"/>
                      <a:round/>
                      <a:headEnd type="none" w="med" len="med"/>
                      <a:tailEnd type="none" w="med" len="med"/>
                    </a:lnT>
                    <a:lnB w="9525" cap="flat" cmpd="sng" algn="ctr">
                      <a:solidFill>
                        <a:srgbClr val="E3E7E1"/>
                      </a:solidFill>
                      <a:prstDash val="solid"/>
                      <a:round/>
                      <a:headEnd type="none" w="med" len="med"/>
                      <a:tailEnd type="none" w="med" len="med"/>
                    </a:lnB>
                    <a:solidFill>
                      <a:srgbClr val="E4EFE8"/>
                    </a:solidFill>
                  </a:tcPr>
                </a:tc>
                <a:tc>
                  <a:txBody>
                    <a:bodyPr/>
                    <a:lstStyle/>
                    <a:p>
                      <a:pPr marL="0" indent="0" algn="ctr">
                        <a:buNone/>
                      </a:pPr>
                      <a:r>
                        <a:rPr lang="en-US" sz="1050" b="1" dirty="0">
                          <a:solidFill>
                            <a:srgbClr val="1B4332"/>
                          </a:solidFill>
                          <a:latin typeface="Calibri" pitchFamily="34" charset="0"/>
                          <a:ea typeface="Calibri" pitchFamily="34" charset="-122"/>
                          <a:cs typeface="Calibri" pitchFamily="34" charset="-120"/>
                        </a:rPr>
                        <a:t>0.5518</a:t>
                      </a:r>
                      <a:endParaRPr lang="en-US" sz="1050" dirty="0">
                        <a:latin typeface="Calibri" charset="0"/>
                        <a:ea typeface="Calibri" charset="0"/>
                        <a:cs typeface="Calibri" charset="0"/>
                      </a:endParaRPr>
                    </a:p>
                  </a:txBody>
                  <a:tcPr anchor="ctr">
                    <a:lnL w="9525" cap="flat" cmpd="sng" algn="ctr">
                      <a:solidFill>
                        <a:srgbClr val="E3E7E1"/>
                      </a:solidFill>
                      <a:prstDash val="solid"/>
                      <a:round/>
                      <a:headEnd type="none" w="med" len="med"/>
                      <a:tailEnd type="none" w="med" len="med"/>
                    </a:lnL>
                    <a:lnR w="9525" cap="flat" cmpd="sng" algn="ctr">
                      <a:solidFill>
                        <a:srgbClr val="E3E7E1"/>
                      </a:solidFill>
                      <a:prstDash val="solid"/>
                      <a:round/>
                      <a:headEnd type="none" w="med" len="med"/>
                      <a:tailEnd type="none" w="med" len="med"/>
                    </a:lnR>
                    <a:lnT w="9525" cap="flat" cmpd="sng" algn="ctr">
                      <a:solidFill>
                        <a:srgbClr val="E3E7E1"/>
                      </a:solidFill>
                      <a:prstDash val="solid"/>
                      <a:round/>
                      <a:headEnd type="none" w="med" len="med"/>
                      <a:tailEnd type="none" w="med" len="med"/>
                    </a:lnT>
                    <a:lnB w="9525" cap="flat" cmpd="sng" algn="ctr">
                      <a:solidFill>
                        <a:srgbClr val="E3E7E1"/>
                      </a:solidFill>
                      <a:prstDash val="solid"/>
                      <a:round/>
                      <a:headEnd type="none" w="med" len="med"/>
                      <a:tailEnd type="none" w="med" len="med"/>
                    </a:lnB>
                    <a:solidFill>
                      <a:srgbClr val="E4EFE8"/>
                    </a:solidFill>
                  </a:tcPr>
                </a:tc>
                <a:extLst>
                  <a:ext uri="{0D108BD9-81ED-4DB2-BD59-A6C34878D82A}">
                    <a16:rowId xmlns:a16="http://schemas.microsoft.com/office/drawing/2014/main" val="10002"/>
                  </a:ext>
                </a:extLst>
              </a:tr>
              <a:tr h="457200">
                <a:tc>
                  <a:txBody>
                    <a:bodyPr/>
                    <a:lstStyle/>
                    <a:p>
                      <a:pPr marL="0" indent="0" algn="ctr">
                        <a:buNone/>
                      </a:pPr>
                      <a:r>
                        <a:rPr lang="en-US" sz="1050" dirty="0">
                          <a:solidFill>
                            <a:srgbClr val="1C2B24"/>
                          </a:solidFill>
                          <a:latin typeface="Calibri" pitchFamily="34" charset="0"/>
                          <a:ea typeface="Calibri" pitchFamily="34" charset="-122"/>
                          <a:cs typeface="Calibri" pitchFamily="34" charset="-120"/>
                        </a:rPr>
                        <a:t>Gradient Boosting</a:t>
                      </a:r>
                      <a:endParaRPr lang="en-US" sz="1050" dirty="0">
                        <a:latin typeface="Calibri" charset="0"/>
                        <a:ea typeface="Calibri" charset="0"/>
                        <a:cs typeface="Calibri" charset="0"/>
                      </a:endParaRPr>
                    </a:p>
                  </a:txBody>
                  <a:tcPr anchor="ctr">
                    <a:lnL w="9525" cap="flat" cmpd="sng" algn="ctr">
                      <a:solidFill>
                        <a:srgbClr val="E3E7E1"/>
                      </a:solidFill>
                      <a:prstDash val="solid"/>
                      <a:round/>
                      <a:headEnd type="none" w="med" len="med"/>
                      <a:tailEnd type="none" w="med" len="med"/>
                    </a:lnL>
                    <a:lnR w="9525" cap="flat" cmpd="sng" algn="ctr">
                      <a:solidFill>
                        <a:srgbClr val="E3E7E1"/>
                      </a:solidFill>
                      <a:prstDash val="solid"/>
                      <a:round/>
                      <a:headEnd type="none" w="med" len="med"/>
                      <a:tailEnd type="none" w="med" len="med"/>
                    </a:lnR>
                    <a:lnT w="9525" cap="flat" cmpd="sng" algn="ctr">
                      <a:solidFill>
                        <a:srgbClr val="E3E7E1"/>
                      </a:solidFill>
                      <a:prstDash val="solid"/>
                      <a:round/>
                      <a:headEnd type="none" w="med" len="med"/>
                      <a:tailEnd type="none" w="med" len="med"/>
                    </a:lnT>
                    <a:lnB w="9525" cap="flat" cmpd="sng" algn="ctr">
                      <a:solidFill>
                        <a:srgbClr val="E3E7E1"/>
                      </a:solidFill>
                      <a:prstDash val="solid"/>
                      <a:round/>
                      <a:headEnd type="none" w="med" len="med"/>
                      <a:tailEnd type="none" w="med" len="med"/>
                    </a:lnB>
                  </a:tcPr>
                </a:tc>
                <a:tc>
                  <a:txBody>
                    <a:bodyPr/>
                    <a:lstStyle/>
                    <a:p>
                      <a:pPr marL="0" indent="0" algn="ctr">
                        <a:buNone/>
                      </a:pPr>
                      <a:r>
                        <a:rPr lang="en-US" sz="1050" dirty="0">
                          <a:solidFill>
                            <a:srgbClr val="1C2B24"/>
                          </a:solidFill>
                          <a:latin typeface="Calibri" pitchFamily="34" charset="0"/>
                          <a:ea typeface="Calibri" pitchFamily="34" charset="-122"/>
                          <a:cs typeface="Calibri" pitchFamily="34" charset="-120"/>
                        </a:rPr>
                        <a:t>1,481,121</a:t>
                      </a:r>
                      <a:endParaRPr lang="en-US" sz="1050" dirty="0">
                        <a:latin typeface="Calibri" charset="0"/>
                        <a:ea typeface="Calibri" charset="0"/>
                        <a:cs typeface="Calibri" charset="0"/>
                      </a:endParaRPr>
                    </a:p>
                  </a:txBody>
                  <a:tcPr anchor="ctr">
                    <a:lnL w="9525" cap="flat" cmpd="sng" algn="ctr">
                      <a:solidFill>
                        <a:srgbClr val="E3E7E1"/>
                      </a:solidFill>
                      <a:prstDash val="solid"/>
                      <a:round/>
                      <a:headEnd type="none" w="med" len="med"/>
                      <a:tailEnd type="none" w="med" len="med"/>
                    </a:lnL>
                    <a:lnR w="9525" cap="flat" cmpd="sng" algn="ctr">
                      <a:solidFill>
                        <a:srgbClr val="E3E7E1"/>
                      </a:solidFill>
                      <a:prstDash val="solid"/>
                      <a:round/>
                      <a:headEnd type="none" w="med" len="med"/>
                      <a:tailEnd type="none" w="med" len="med"/>
                    </a:lnR>
                    <a:lnT w="9525" cap="flat" cmpd="sng" algn="ctr">
                      <a:solidFill>
                        <a:srgbClr val="E3E7E1"/>
                      </a:solidFill>
                      <a:prstDash val="solid"/>
                      <a:round/>
                      <a:headEnd type="none" w="med" len="med"/>
                      <a:tailEnd type="none" w="med" len="med"/>
                    </a:lnT>
                    <a:lnB w="9525" cap="flat" cmpd="sng" algn="ctr">
                      <a:solidFill>
                        <a:srgbClr val="E3E7E1"/>
                      </a:solidFill>
                      <a:prstDash val="solid"/>
                      <a:round/>
                      <a:headEnd type="none" w="med" len="med"/>
                      <a:tailEnd type="none" w="med" len="med"/>
                    </a:lnB>
                  </a:tcPr>
                </a:tc>
                <a:tc>
                  <a:txBody>
                    <a:bodyPr/>
                    <a:lstStyle/>
                    <a:p>
                      <a:pPr marL="0" indent="0" algn="ctr">
                        <a:buNone/>
                      </a:pPr>
                      <a:r>
                        <a:rPr lang="en-US" sz="1050" dirty="0">
                          <a:solidFill>
                            <a:srgbClr val="1C2B24"/>
                          </a:solidFill>
                          <a:latin typeface="Calibri" pitchFamily="34" charset="0"/>
                          <a:ea typeface="Calibri" pitchFamily="34" charset="-122"/>
                          <a:cs typeface="Calibri" pitchFamily="34" charset="-120"/>
                        </a:rPr>
                        <a:t>4,541,810</a:t>
                      </a:r>
                      <a:endParaRPr lang="en-US" sz="1050" dirty="0">
                        <a:latin typeface="Calibri" charset="0"/>
                        <a:ea typeface="Calibri" charset="0"/>
                        <a:cs typeface="Calibri" charset="0"/>
                      </a:endParaRPr>
                    </a:p>
                  </a:txBody>
                  <a:tcPr anchor="ctr">
                    <a:lnL w="9525" cap="flat" cmpd="sng" algn="ctr">
                      <a:solidFill>
                        <a:srgbClr val="E3E7E1"/>
                      </a:solidFill>
                      <a:prstDash val="solid"/>
                      <a:round/>
                      <a:headEnd type="none" w="med" len="med"/>
                      <a:tailEnd type="none" w="med" len="med"/>
                    </a:lnL>
                    <a:lnR w="9525" cap="flat" cmpd="sng" algn="ctr">
                      <a:solidFill>
                        <a:srgbClr val="E3E7E1"/>
                      </a:solidFill>
                      <a:prstDash val="solid"/>
                      <a:round/>
                      <a:headEnd type="none" w="med" len="med"/>
                      <a:tailEnd type="none" w="med" len="med"/>
                    </a:lnR>
                    <a:lnT w="9525" cap="flat" cmpd="sng" algn="ctr">
                      <a:solidFill>
                        <a:srgbClr val="E3E7E1"/>
                      </a:solidFill>
                      <a:prstDash val="solid"/>
                      <a:round/>
                      <a:headEnd type="none" w="med" len="med"/>
                      <a:tailEnd type="none" w="med" len="med"/>
                    </a:lnT>
                    <a:lnB w="9525" cap="flat" cmpd="sng" algn="ctr">
                      <a:solidFill>
                        <a:srgbClr val="E3E7E1"/>
                      </a:solidFill>
                      <a:prstDash val="solid"/>
                      <a:round/>
                      <a:headEnd type="none" w="med" len="med"/>
                      <a:tailEnd type="none" w="med" len="med"/>
                    </a:lnB>
                  </a:tcPr>
                </a:tc>
                <a:tc>
                  <a:txBody>
                    <a:bodyPr/>
                    <a:lstStyle/>
                    <a:p>
                      <a:pPr marL="0" indent="0" algn="ctr">
                        <a:buNone/>
                      </a:pPr>
                      <a:r>
                        <a:rPr lang="en-US" sz="1050" dirty="0">
                          <a:solidFill>
                            <a:srgbClr val="1C2B24"/>
                          </a:solidFill>
                          <a:latin typeface="Calibri" pitchFamily="34" charset="0"/>
                          <a:ea typeface="Calibri" pitchFamily="34" charset="-122"/>
                          <a:cs typeface="Calibri" pitchFamily="34" charset="-120"/>
                        </a:rPr>
                        <a:t>0.5455</a:t>
                      </a:r>
                      <a:endParaRPr lang="en-US" sz="1050" dirty="0">
                        <a:latin typeface="Calibri" charset="0"/>
                        <a:ea typeface="Calibri" charset="0"/>
                        <a:cs typeface="Calibri" charset="0"/>
                      </a:endParaRPr>
                    </a:p>
                  </a:txBody>
                  <a:tcPr anchor="ctr">
                    <a:lnL w="9525" cap="flat" cmpd="sng" algn="ctr">
                      <a:solidFill>
                        <a:srgbClr val="E3E7E1"/>
                      </a:solidFill>
                      <a:prstDash val="solid"/>
                      <a:round/>
                      <a:headEnd type="none" w="med" len="med"/>
                      <a:tailEnd type="none" w="med" len="med"/>
                    </a:lnL>
                    <a:lnR w="9525" cap="flat" cmpd="sng" algn="ctr">
                      <a:solidFill>
                        <a:srgbClr val="E3E7E1"/>
                      </a:solidFill>
                      <a:prstDash val="solid"/>
                      <a:round/>
                      <a:headEnd type="none" w="med" len="med"/>
                      <a:tailEnd type="none" w="med" len="med"/>
                    </a:lnR>
                    <a:lnT w="9525" cap="flat" cmpd="sng" algn="ctr">
                      <a:solidFill>
                        <a:srgbClr val="E3E7E1"/>
                      </a:solidFill>
                      <a:prstDash val="solid"/>
                      <a:round/>
                      <a:headEnd type="none" w="med" len="med"/>
                      <a:tailEnd type="none" w="med" len="med"/>
                    </a:lnT>
                    <a:lnB w="9525" cap="flat" cmpd="sng" algn="ctr">
                      <a:solidFill>
                        <a:srgbClr val="E3E7E1"/>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ctr">
                        <a:buNone/>
                      </a:pPr>
                      <a:r>
                        <a:rPr lang="en-US" sz="1050" dirty="0">
                          <a:solidFill>
                            <a:srgbClr val="1C2B24"/>
                          </a:solidFill>
                          <a:latin typeface="Calibri" pitchFamily="34" charset="0"/>
                          <a:ea typeface="Calibri" pitchFamily="34" charset="-122"/>
                          <a:cs typeface="Calibri" pitchFamily="34" charset="-120"/>
                        </a:rPr>
                        <a:t>SVR</a:t>
                      </a:r>
                      <a:endParaRPr lang="en-US" sz="1050" dirty="0">
                        <a:latin typeface="Calibri" charset="0"/>
                        <a:ea typeface="Calibri" charset="0"/>
                        <a:cs typeface="Calibri" charset="0"/>
                      </a:endParaRPr>
                    </a:p>
                  </a:txBody>
                  <a:tcPr anchor="ctr">
                    <a:lnL w="9525" cap="flat" cmpd="sng" algn="ctr">
                      <a:solidFill>
                        <a:srgbClr val="E3E7E1"/>
                      </a:solidFill>
                      <a:prstDash val="solid"/>
                      <a:round/>
                      <a:headEnd type="none" w="med" len="med"/>
                      <a:tailEnd type="none" w="med" len="med"/>
                    </a:lnL>
                    <a:lnR w="9525" cap="flat" cmpd="sng" algn="ctr">
                      <a:solidFill>
                        <a:srgbClr val="E3E7E1"/>
                      </a:solidFill>
                      <a:prstDash val="solid"/>
                      <a:round/>
                      <a:headEnd type="none" w="med" len="med"/>
                      <a:tailEnd type="none" w="med" len="med"/>
                    </a:lnR>
                    <a:lnT w="9525" cap="flat" cmpd="sng" algn="ctr">
                      <a:solidFill>
                        <a:srgbClr val="E3E7E1"/>
                      </a:solidFill>
                      <a:prstDash val="solid"/>
                      <a:round/>
                      <a:headEnd type="none" w="med" len="med"/>
                      <a:tailEnd type="none" w="med" len="med"/>
                    </a:lnT>
                    <a:lnB w="9525" cap="flat" cmpd="sng" algn="ctr">
                      <a:solidFill>
                        <a:srgbClr val="E3E7E1"/>
                      </a:solidFill>
                      <a:prstDash val="solid"/>
                      <a:round/>
                      <a:headEnd type="none" w="med" len="med"/>
                      <a:tailEnd type="none" w="med" len="med"/>
                    </a:lnB>
                  </a:tcPr>
                </a:tc>
                <a:tc>
                  <a:txBody>
                    <a:bodyPr/>
                    <a:lstStyle/>
                    <a:p>
                      <a:pPr marL="0" indent="0" algn="ctr">
                        <a:buNone/>
                      </a:pPr>
                      <a:r>
                        <a:rPr lang="en-US" sz="1050" dirty="0">
                          <a:solidFill>
                            <a:srgbClr val="1C2B24"/>
                          </a:solidFill>
                          <a:latin typeface="Calibri" pitchFamily="34" charset="0"/>
                          <a:ea typeface="Calibri" pitchFamily="34" charset="-122"/>
                          <a:cs typeface="Calibri" pitchFamily="34" charset="-120"/>
                        </a:rPr>
                        <a:t>1,510,879</a:t>
                      </a:r>
                      <a:endParaRPr lang="en-US" sz="1050" dirty="0">
                        <a:latin typeface="Calibri" charset="0"/>
                        <a:ea typeface="Calibri" charset="0"/>
                        <a:cs typeface="Calibri" charset="0"/>
                      </a:endParaRPr>
                    </a:p>
                  </a:txBody>
                  <a:tcPr anchor="ctr">
                    <a:lnL w="9525" cap="flat" cmpd="sng" algn="ctr">
                      <a:solidFill>
                        <a:srgbClr val="E3E7E1"/>
                      </a:solidFill>
                      <a:prstDash val="solid"/>
                      <a:round/>
                      <a:headEnd type="none" w="med" len="med"/>
                      <a:tailEnd type="none" w="med" len="med"/>
                    </a:lnL>
                    <a:lnR w="9525" cap="flat" cmpd="sng" algn="ctr">
                      <a:solidFill>
                        <a:srgbClr val="E3E7E1"/>
                      </a:solidFill>
                      <a:prstDash val="solid"/>
                      <a:round/>
                      <a:headEnd type="none" w="med" len="med"/>
                      <a:tailEnd type="none" w="med" len="med"/>
                    </a:lnR>
                    <a:lnT w="9525" cap="flat" cmpd="sng" algn="ctr">
                      <a:solidFill>
                        <a:srgbClr val="E3E7E1"/>
                      </a:solidFill>
                      <a:prstDash val="solid"/>
                      <a:round/>
                      <a:headEnd type="none" w="med" len="med"/>
                      <a:tailEnd type="none" w="med" len="med"/>
                    </a:lnT>
                    <a:lnB w="9525" cap="flat" cmpd="sng" algn="ctr">
                      <a:solidFill>
                        <a:srgbClr val="E3E7E1"/>
                      </a:solidFill>
                      <a:prstDash val="solid"/>
                      <a:round/>
                      <a:headEnd type="none" w="med" len="med"/>
                      <a:tailEnd type="none" w="med" len="med"/>
                    </a:lnB>
                  </a:tcPr>
                </a:tc>
                <a:tc>
                  <a:txBody>
                    <a:bodyPr/>
                    <a:lstStyle/>
                    <a:p>
                      <a:pPr marL="0" indent="0" algn="ctr">
                        <a:buNone/>
                      </a:pPr>
                      <a:r>
                        <a:rPr lang="en-US" sz="1050" dirty="0">
                          <a:solidFill>
                            <a:srgbClr val="1C2B24"/>
                          </a:solidFill>
                          <a:latin typeface="Calibri" pitchFamily="34" charset="0"/>
                          <a:ea typeface="Calibri" pitchFamily="34" charset="-122"/>
                          <a:cs typeface="Calibri" pitchFamily="34" charset="-120"/>
                        </a:rPr>
                        <a:t>5,956,130</a:t>
                      </a:r>
                      <a:endParaRPr lang="en-US" sz="1050" dirty="0">
                        <a:latin typeface="Calibri" charset="0"/>
                        <a:ea typeface="Calibri" charset="0"/>
                        <a:cs typeface="Calibri" charset="0"/>
                      </a:endParaRPr>
                    </a:p>
                  </a:txBody>
                  <a:tcPr anchor="ctr">
                    <a:lnL w="9525" cap="flat" cmpd="sng" algn="ctr">
                      <a:solidFill>
                        <a:srgbClr val="E3E7E1"/>
                      </a:solidFill>
                      <a:prstDash val="solid"/>
                      <a:round/>
                      <a:headEnd type="none" w="med" len="med"/>
                      <a:tailEnd type="none" w="med" len="med"/>
                    </a:lnL>
                    <a:lnR w="9525" cap="flat" cmpd="sng" algn="ctr">
                      <a:solidFill>
                        <a:srgbClr val="E3E7E1"/>
                      </a:solidFill>
                      <a:prstDash val="solid"/>
                      <a:round/>
                      <a:headEnd type="none" w="med" len="med"/>
                      <a:tailEnd type="none" w="med" len="med"/>
                    </a:lnR>
                    <a:lnT w="9525" cap="flat" cmpd="sng" algn="ctr">
                      <a:solidFill>
                        <a:srgbClr val="E3E7E1"/>
                      </a:solidFill>
                      <a:prstDash val="solid"/>
                      <a:round/>
                      <a:headEnd type="none" w="med" len="med"/>
                      <a:tailEnd type="none" w="med" len="med"/>
                    </a:lnT>
                    <a:lnB w="9525" cap="flat" cmpd="sng" algn="ctr">
                      <a:solidFill>
                        <a:srgbClr val="E3E7E1"/>
                      </a:solidFill>
                      <a:prstDash val="solid"/>
                      <a:round/>
                      <a:headEnd type="none" w="med" len="med"/>
                      <a:tailEnd type="none" w="med" len="med"/>
                    </a:lnB>
                  </a:tcPr>
                </a:tc>
                <a:tc>
                  <a:txBody>
                    <a:bodyPr/>
                    <a:lstStyle/>
                    <a:p>
                      <a:pPr marL="0" indent="0" algn="ctr">
                        <a:buNone/>
                      </a:pPr>
                      <a:r>
                        <a:rPr lang="en-US" sz="1050" dirty="0">
                          <a:solidFill>
                            <a:srgbClr val="1C2B24"/>
                          </a:solidFill>
                          <a:latin typeface="Calibri" pitchFamily="34" charset="0"/>
                          <a:ea typeface="Calibri" pitchFamily="34" charset="-122"/>
                          <a:cs typeface="Calibri" pitchFamily="34" charset="-120"/>
                        </a:rPr>
                        <a:t>0.2184</a:t>
                      </a:r>
                      <a:endParaRPr lang="en-US" sz="1050" dirty="0">
                        <a:latin typeface="Calibri" charset="0"/>
                        <a:ea typeface="Calibri" charset="0"/>
                        <a:cs typeface="Calibri" charset="0"/>
                      </a:endParaRPr>
                    </a:p>
                  </a:txBody>
                  <a:tcPr anchor="ctr">
                    <a:lnL w="9525" cap="flat" cmpd="sng" algn="ctr">
                      <a:solidFill>
                        <a:srgbClr val="E3E7E1"/>
                      </a:solidFill>
                      <a:prstDash val="solid"/>
                      <a:round/>
                      <a:headEnd type="none" w="med" len="med"/>
                      <a:tailEnd type="none" w="med" len="med"/>
                    </a:lnL>
                    <a:lnR w="9525" cap="flat" cmpd="sng" algn="ctr">
                      <a:solidFill>
                        <a:srgbClr val="E3E7E1"/>
                      </a:solidFill>
                      <a:prstDash val="solid"/>
                      <a:round/>
                      <a:headEnd type="none" w="med" len="med"/>
                      <a:tailEnd type="none" w="med" len="med"/>
                    </a:lnR>
                    <a:lnT w="9525" cap="flat" cmpd="sng" algn="ctr">
                      <a:solidFill>
                        <a:srgbClr val="E3E7E1"/>
                      </a:solidFill>
                      <a:prstDash val="solid"/>
                      <a:round/>
                      <a:headEnd type="none" w="med" len="med"/>
                      <a:tailEnd type="none" w="med" len="med"/>
                    </a:lnT>
                    <a:lnB w="9525" cap="flat" cmpd="sng" algn="ctr">
                      <a:solidFill>
                        <a:srgbClr val="E3E7E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2"/>
          <p:cNvSpPr/>
          <p:nvPr/>
        </p:nvSpPr>
        <p:spPr>
          <a:xfrm>
            <a:off x="4621763" y="2519076"/>
            <a:ext cx="4663440" cy="685800"/>
          </a:xfrm>
          <a:prstGeom prst="rect">
            <a:avLst/>
          </a:prstGeom>
          <a:noFill/>
          <a:ln/>
        </p:spPr>
        <p:txBody>
          <a:bodyPr wrap="square" lIns="0" tIns="0" rIns="0" bIns="0" rtlCol="0" anchor="ctr"/>
          <a:lstStyle/>
          <a:p>
            <a:pPr marL="0" indent="0">
              <a:lnSpc>
                <a:spcPct val="120000"/>
              </a:lnSpc>
              <a:buNone/>
            </a:pPr>
            <a:r>
              <a:rPr lang="en-US" sz="1150" i="1" dirty="0">
                <a:solidFill>
                  <a:srgbClr val="5B6D63"/>
                </a:solidFill>
                <a:latin typeface="Calibri" pitchFamily="34" charset="0"/>
                <a:ea typeface="Calibri" pitchFamily="34" charset="-122"/>
                <a:cs typeface="Calibri" pitchFamily="34" charset="-120"/>
              </a:rPr>
              <a:t>Random Forest and Gradient Boosting both explain ~55% of variance in market value — more than 3× the linear baseline.</a:t>
            </a:r>
            <a:endParaRPr lang="en-US" sz="1150" dirty="0"/>
          </a:p>
        </p:txBody>
      </p:sp>
      <p:sp>
        <p:nvSpPr>
          <p:cNvPr id="7" name="Shape 3"/>
          <p:cNvSpPr/>
          <p:nvPr/>
        </p:nvSpPr>
        <p:spPr>
          <a:xfrm>
            <a:off x="3605166" y="5039184"/>
            <a:ext cx="5943600" cy="1417320"/>
          </a:xfrm>
          <a:prstGeom prst="roundRect">
            <a:avLst>
              <a:gd name="adj" fmla="val 6452"/>
            </a:avLst>
          </a:prstGeom>
          <a:solidFill>
            <a:srgbClr val="0E3B2E"/>
          </a:solidFill>
          <a:ln/>
        </p:spPr>
        <p:txBody>
          <a:bodyPr/>
          <a:lstStyle/>
          <a:p>
            <a:endParaRPr lang="en-US"/>
          </a:p>
        </p:txBody>
      </p:sp>
      <p:pic>
        <p:nvPicPr>
          <p:cNvPr id="5" name="Image 0" descr="icon_FaCheckCircle_D4A017.png"/>
          <p:cNvPicPr>
            <a:picLocks noChangeAspect="1"/>
          </p:cNvPicPr>
          <p:nvPr/>
        </p:nvPicPr>
        <p:blipFill>
          <a:blip r:embed="rId3"/>
          <a:stretch>
            <a:fillRect/>
          </a:stretch>
        </p:blipFill>
        <p:spPr>
          <a:xfrm>
            <a:off x="3703320" y="5213023"/>
            <a:ext cx="365760" cy="365760"/>
          </a:xfrm>
          <a:prstGeom prst="rect">
            <a:avLst/>
          </a:prstGeom>
        </p:spPr>
      </p:pic>
      <p:sp>
        <p:nvSpPr>
          <p:cNvPr id="9" name="Text 4"/>
          <p:cNvSpPr/>
          <p:nvPr/>
        </p:nvSpPr>
        <p:spPr>
          <a:xfrm>
            <a:off x="4206240" y="5189220"/>
            <a:ext cx="50292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Tuning fixed overfitting in the winning model</a:t>
            </a:r>
            <a:endParaRPr lang="en-US" sz="1300" dirty="0"/>
          </a:p>
        </p:txBody>
      </p:sp>
      <p:sp>
        <p:nvSpPr>
          <p:cNvPr id="10" name="Text 5"/>
          <p:cNvSpPr/>
          <p:nvPr/>
        </p:nvSpPr>
        <p:spPr>
          <a:xfrm>
            <a:off x="4167234" y="5479513"/>
            <a:ext cx="5029200" cy="822960"/>
          </a:xfrm>
          <a:prstGeom prst="rect">
            <a:avLst/>
          </a:prstGeom>
          <a:noFill/>
          <a:ln/>
        </p:spPr>
        <p:txBody>
          <a:bodyPr wrap="square" lIns="0" tIns="0" rIns="0" bIns="0" rtlCol="0" anchor="ctr"/>
          <a:lstStyle/>
          <a:p>
            <a:pPr marL="0" indent="0">
              <a:lnSpc>
                <a:spcPct val="120000"/>
              </a:lnSpc>
              <a:buNone/>
            </a:pPr>
            <a:r>
              <a:rPr lang="en-US" sz="1100" dirty="0">
                <a:solidFill>
                  <a:srgbClr val="D9E4DE"/>
                </a:solidFill>
                <a:latin typeface="Calibri" pitchFamily="34" charset="0"/>
                <a:ea typeface="Calibri" pitchFamily="34" charset="-122"/>
                <a:cs typeface="Calibri" pitchFamily="34" charset="-120"/>
              </a:rPr>
              <a:t>Random Forest train–test R² gap dropped from 0.37 (overfit) to 0.12 (healthy) after limiting tree depth and leaf size — test accuracy held steady.</a:t>
            </a:r>
            <a:endParaRPr lang="en-US" sz="1100" dirty="0"/>
          </a:p>
        </p:txBody>
      </p:sp>
      <p:pic>
        <p:nvPicPr>
          <p:cNvPr id="12" name="Picture 11">
            <a:extLst>
              <a:ext uri="{FF2B5EF4-FFF2-40B4-BE49-F238E27FC236}">
                <a16:creationId xmlns:a16="http://schemas.microsoft.com/office/drawing/2014/main" id="{D50385EF-BDA4-0897-E434-50F17513034E}"/>
              </a:ext>
            </a:extLst>
          </p:cNvPr>
          <p:cNvPicPr>
            <a:picLocks noChangeAspect="1"/>
          </p:cNvPicPr>
          <p:nvPr/>
        </p:nvPicPr>
        <p:blipFill>
          <a:blip r:embed="rId4"/>
          <a:stretch>
            <a:fillRect/>
          </a:stretch>
        </p:blipFill>
        <p:spPr>
          <a:xfrm>
            <a:off x="2773551" y="3128531"/>
            <a:ext cx="8359864" cy="1676545"/>
          </a:xfrm>
          <a:prstGeom prst="rect">
            <a:avLst/>
          </a:prstGeom>
          <a:solidFill>
            <a:schemeClr val="tx2"/>
          </a:solid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3B2E"/>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Final Findings</a:t>
            </a:r>
            <a:endParaRPr lang="en-US" sz="3000" dirty="0"/>
          </a:p>
        </p:txBody>
      </p:sp>
      <p:sp>
        <p:nvSpPr>
          <p:cNvPr id="3" name="Text 1"/>
          <p:cNvSpPr/>
          <p:nvPr/>
        </p:nvSpPr>
        <p:spPr>
          <a:xfrm>
            <a:off x="640080" y="1051560"/>
            <a:ext cx="8686800" cy="365760"/>
          </a:xfrm>
          <a:prstGeom prst="rect">
            <a:avLst/>
          </a:prstGeom>
          <a:noFill/>
          <a:ln/>
        </p:spPr>
        <p:txBody>
          <a:bodyPr wrap="square" lIns="0" tIns="0" rIns="0" bIns="0" rtlCol="0" anchor="ctr"/>
          <a:lstStyle/>
          <a:p>
            <a:pPr marL="0" indent="0">
              <a:buNone/>
            </a:pPr>
            <a:r>
              <a:rPr lang="en-US" sz="1350" i="1" dirty="0">
                <a:solidFill>
                  <a:srgbClr val="B9CDC1"/>
                </a:solidFill>
                <a:latin typeface="Calibri" pitchFamily="34" charset="0"/>
                <a:ea typeface="Calibri" pitchFamily="34" charset="-122"/>
                <a:cs typeface="Calibri" pitchFamily="34" charset="-120"/>
              </a:rPr>
              <a:t>The tuned Random Forest applied to real scouting decisions</a:t>
            </a:r>
            <a:endParaRPr lang="en-US" sz="1350" dirty="0"/>
          </a:p>
        </p:txBody>
      </p:sp>
      <p:sp>
        <p:nvSpPr>
          <p:cNvPr id="4" name="Shape 2"/>
          <p:cNvSpPr/>
          <p:nvPr/>
        </p:nvSpPr>
        <p:spPr>
          <a:xfrm>
            <a:off x="640080" y="1737360"/>
            <a:ext cx="3200400" cy="1417320"/>
          </a:xfrm>
          <a:prstGeom prst="roundRect">
            <a:avLst>
              <a:gd name="adj" fmla="val 6452"/>
            </a:avLst>
          </a:prstGeom>
          <a:solidFill>
            <a:srgbClr val="1B4332"/>
          </a:solidFill>
          <a:ln/>
        </p:spPr>
        <p:txBody>
          <a:bodyPr/>
          <a:lstStyle/>
          <a:p>
            <a:endParaRPr lang="en-US"/>
          </a:p>
        </p:txBody>
      </p:sp>
      <p:sp>
        <p:nvSpPr>
          <p:cNvPr id="5" name="Text 3"/>
          <p:cNvSpPr/>
          <p:nvPr/>
        </p:nvSpPr>
        <p:spPr>
          <a:xfrm>
            <a:off x="868680" y="1847088"/>
            <a:ext cx="2743200" cy="685800"/>
          </a:xfrm>
          <a:prstGeom prst="rect">
            <a:avLst/>
          </a:prstGeom>
          <a:noFill/>
          <a:ln/>
        </p:spPr>
        <p:txBody>
          <a:bodyPr wrap="square" lIns="0" tIns="0" rIns="0" bIns="0" rtlCol="0" anchor="ctr"/>
          <a:lstStyle/>
          <a:p>
            <a:pPr marL="0" indent="0">
              <a:buNone/>
            </a:pPr>
            <a:r>
              <a:rPr lang="en-US" sz="3200" b="1" dirty="0">
                <a:solidFill>
                  <a:srgbClr val="D4A017"/>
                </a:solidFill>
                <a:latin typeface="Cambria" pitchFamily="34" charset="0"/>
                <a:ea typeface="Cambria" pitchFamily="34" charset="-122"/>
                <a:cs typeface="Cambria" pitchFamily="34" charset="-120"/>
              </a:rPr>
              <a:t>55%</a:t>
            </a:r>
            <a:endParaRPr lang="en-US" sz="3200" dirty="0"/>
          </a:p>
        </p:txBody>
      </p:sp>
      <p:sp>
        <p:nvSpPr>
          <p:cNvPr id="6" name="Text 4"/>
          <p:cNvSpPr/>
          <p:nvPr/>
        </p:nvSpPr>
        <p:spPr>
          <a:xfrm>
            <a:off x="868680" y="2560320"/>
            <a:ext cx="2743200" cy="548640"/>
          </a:xfrm>
          <a:prstGeom prst="rect">
            <a:avLst/>
          </a:prstGeom>
          <a:noFill/>
          <a:ln/>
        </p:spPr>
        <p:txBody>
          <a:bodyPr wrap="square" lIns="0" tIns="0" rIns="0" bIns="0" rtlCol="0" anchor="ctr"/>
          <a:lstStyle/>
          <a:p>
            <a:pPr marL="0" indent="0">
              <a:lnSpc>
                <a:spcPct val="115000"/>
              </a:lnSpc>
              <a:buNone/>
            </a:pPr>
            <a:r>
              <a:rPr lang="en-US" sz="1050" dirty="0">
                <a:solidFill>
                  <a:srgbClr val="F4F6F2"/>
                </a:solidFill>
                <a:latin typeface="Calibri" pitchFamily="34" charset="0"/>
                <a:ea typeface="Calibri" pitchFamily="34" charset="-122"/>
                <a:cs typeface="Calibri" pitchFamily="34" charset="-120"/>
              </a:rPr>
              <a:t>of value variance explained (R²), 3× the linear baseline</a:t>
            </a:r>
            <a:endParaRPr lang="en-US" sz="1050" dirty="0"/>
          </a:p>
        </p:txBody>
      </p:sp>
      <p:sp>
        <p:nvSpPr>
          <p:cNvPr id="7" name="Shape 5"/>
          <p:cNvSpPr/>
          <p:nvPr/>
        </p:nvSpPr>
        <p:spPr>
          <a:xfrm>
            <a:off x="640080" y="3383280"/>
            <a:ext cx="3200400" cy="1417320"/>
          </a:xfrm>
          <a:prstGeom prst="roundRect">
            <a:avLst>
              <a:gd name="adj" fmla="val 6452"/>
            </a:avLst>
          </a:prstGeom>
          <a:solidFill>
            <a:srgbClr val="1B4332"/>
          </a:solidFill>
          <a:ln/>
        </p:spPr>
        <p:txBody>
          <a:bodyPr/>
          <a:lstStyle/>
          <a:p>
            <a:endParaRPr lang="en-US"/>
          </a:p>
        </p:txBody>
      </p:sp>
      <p:sp>
        <p:nvSpPr>
          <p:cNvPr id="8" name="Text 6"/>
          <p:cNvSpPr/>
          <p:nvPr/>
        </p:nvSpPr>
        <p:spPr>
          <a:xfrm>
            <a:off x="868680" y="3493008"/>
            <a:ext cx="2743200" cy="685800"/>
          </a:xfrm>
          <a:prstGeom prst="rect">
            <a:avLst/>
          </a:prstGeom>
          <a:noFill/>
          <a:ln/>
        </p:spPr>
        <p:txBody>
          <a:bodyPr wrap="square" lIns="0" tIns="0" rIns="0" bIns="0" rtlCol="0" anchor="ctr"/>
          <a:lstStyle/>
          <a:p>
            <a:pPr marL="0" indent="0">
              <a:buNone/>
            </a:pPr>
            <a:r>
              <a:rPr lang="en-US" sz="3200" b="1" dirty="0">
                <a:solidFill>
                  <a:srgbClr val="D4A017"/>
                </a:solidFill>
                <a:latin typeface="Cambria" pitchFamily="34" charset="0"/>
                <a:ea typeface="Cambria" pitchFamily="34" charset="-122"/>
                <a:cs typeface="Cambria" pitchFamily="34" charset="-120"/>
              </a:rPr>
              <a:t>0.12</a:t>
            </a:r>
            <a:endParaRPr lang="en-US" sz="3200" dirty="0"/>
          </a:p>
        </p:txBody>
      </p:sp>
      <p:sp>
        <p:nvSpPr>
          <p:cNvPr id="9" name="Text 7"/>
          <p:cNvSpPr/>
          <p:nvPr/>
        </p:nvSpPr>
        <p:spPr>
          <a:xfrm>
            <a:off x="868680" y="4206240"/>
            <a:ext cx="2743200" cy="548640"/>
          </a:xfrm>
          <a:prstGeom prst="rect">
            <a:avLst/>
          </a:prstGeom>
          <a:noFill/>
          <a:ln/>
        </p:spPr>
        <p:txBody>
          <a:bodyPr wrap="square" lIns="0" tIns="0" rIns="0" bIns="0" rtlCol="0" anchor="ctr"/>
          <a:lstStyle/>
          <a:p>
            <a:pPr marL="0" indent="0">
              <a:lnSpc>
                <a:spcPct val="115000"/>
              </a:lnSpc>
              <a:buNone/>
            </a:pPr>
            <a:r>
              <a:rPr lang="en-US" sz="1050" dirty="0">
                <a:solidFill>
                  <a:srgbClr val="F4F6F2"/>
                </a:solidFill>
                <a:latin typeface="Calibri" pitchFamily="34" charset="0"/>
                <a:ea typeface="Calibri" pitchFamily="34" charset="-122"/>
                <a:cs typeface="Calibri" pitchFamily="34" charset="-120"/>
              </a:rPr>
              <a:t>final train–test R² gap — a healthy, generalizing model</a:t>
            </a:r>
            <a:endParaRPr lang="en-US" sz="1050" dirty="0"/>
          </a:p>
        </p:txBody>
      </p:sp>
      <p:pic>
        <p:nvPicPr>
          <p:cNvPr id="10" name="Image 0" descr="icon_FaSearchDollar_D4A017.png"/>
          <p:cNvPicPr>
            <a:picLocks noChangeAspect="1"/>
          </p:cNvPicPr>
          <p:nvPr/>
        </p:nvPicPr>
        <p:blipFill>
          <a:blip r:embed="rId3"/>
          <a:stretch>
            <a:fillRect/>
          </a:stretch>
        </p:blipFill>
        <p:spPr>
          <a:xfrm>
            <a:off x="640080" y="5074920"/>
            <a:ext cx="365760" cy="365760"/>
          </a:xfrm>
          <a:prstGeom prst="rect">
            <a:avLst/>
          </a:prstGeom>
        </p:spPr>
      </p:pic>
      <p:sp>
        <p:nvSpPr>
          <p:cNvPr id="11" name="Text 8"/>
          <p:cNvSpPr/>
          <p:nvPr/>
        </p:nvSpPr>
        <p:spPr>
          <a:xfrm>
            <a:off x="1097280" y="5074920"/>
            <a:ext cx="2743200" cy="777240"/>
          </a:xfrm>
          <a:prstGeom prst="rect">
            <a:avLst/>
          </a:prstGeom>
          <a:noFill/>
          <a:ln/>
        </p:spPr>
        <p:txBody>
          <a:bodyPr wrap="square" lIns="0" tIns="0" rIns="0" bIns="0" rtlCol="0" anchor="ctr"/>
          <a:lstStyle/>
          <a:p>
            <a:pPr marL="0" indent="0">
              <a:lnSpc>
                <a:spcPct val="120000"/>
              </a:lnSpc>
              <a:buNone/>
            </a:pPr>
            <a:r>
              <a:rPr lang="en-US" sz="1150" i="1" dirty="0">
                <a:solidFill>
                  <a:srgbClr val="F4F6F2"/>
                </a:solidFill>
                <a:latin typeface="Calibri" pitchFamily="34" charset="0"/>
                <a:ea typeface="Calibri" pitchFamily="34" charset="-122"/>
                <a:cs typeface="Calibri" pitchFamily="34" charset="-120"/>
              </a:rPr>
              <a:t>Model-flagged undervalued targets can inform real transfer shortlists.</a:t>
            </a:r>
            <a:endParaRPr lang="en-US" sz="1150" dirty="0"/>
          </a:p>
        </p:txBody>
      </p:sp>
      <p:sp>
        <p:nvSpPr>
          <p:cNvPr id="12" name="Text 9"/>
          <p:cNvSpPr/>
          <p:nvPr/>
        </p:nvSpPr>
        <p:spPr>
          <a:xfrm>
            <a:off x="4206240" y="1783080"/>
            <a:ext cx="7315200" cy="320040"/>
          </a:xfrm>
          <a:prstGeom prst="rect">
            <a:avLst/>
          </a:prstGeom>
          <a:noFill/>
          <a:ln/>
        </p:spPr>
        <p:txBody>
          <a:bodyPr wrap="square" lIns="0" tIns="0" rIns="0" bIns="0" rtlCol="0" anchor="ctr"/>
          <a:lstStyle/>
          <a:p>
            <a:pPr marL="0" indent="0">
              <a:buNone/>
            </a:pPr>
            <a:r>
              <a:rPr lang="en-US" sz="1250" b="1" kern="0" spc="50" dirty="0">
                <a:solidFill>
                  <a:srgbClr val="D4A017"/>
                </a:solidFill>
                <a:latin typeface="Calibri" pitchFamily="34" charset="0"/>
                <a:ea typeface="Calibri" pitchFamily="34" charset="-122"/>
                <a:cs typeface="Calibri" pitchFamily="34" charset="-120"/>
              </a:rPr>
              <a:t>TOP 5 MODEL-IDENTIFIED UNDERVALUED PLAYERS</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206240" y="2194560"/>
          <a:ext cx="7360920" cy="2852928"/>
        </p:xfrm>
        <a:graphic>
          <a:graphicData uri="http://schemas.openxmlformats.org/drawingml/2006/table">
            <a:tbl>
              <a:tblPr/>
              <a:tblGrid>
                <a:gridCol w="25146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47548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Player</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1B4332"/>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Actual (€)</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1B4332"/>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Predicted (€)</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1B4332"/>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Gap (€)</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1B4332"/>
                    </a:solidFill>
                  </a:tcPr>
                </a:tc>
                <a:extLst>
                  <a:ext uri="{0D108BD9-81ED-4DB2-BD59-A6C34878D82A}">
                    <a16:rowId xmlns:a16="http://schemas.microsoft.com/office/drawing/2014/main" val="10000"/>
                  </a:ext>
                </a:extLst>
              </a:tr>
              <a:tr h="475488">
                <a:tc>
                  <a:txBody>
                    <a:bodyPr/>
                    <a:lstStyle/>
                    <a:p>
                      <a:pPr marL="0" indent="0">
                        <a:buNone/>
                      </a:pPr>
                      <a:r>
                        <a:rPr lang="en-US" sz="1100" dirty="0">
                          <a:solidFill>
                            <a:srgbClr val="1C2B24"/>
                          </a:solidFill>
                          <a:latin typeface="Calibri" pitchFamily="34" charset="0"/>
                          <a:ea typeface="Calibri" pitchFamily="34" charset="-122"/>
                          <a:cs typeface="Calibri" pitchFamily="34" charset="-120"/>
                        </a:rPr>
                        <a:t>Konstantin Tyukavin</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2B24"/>
                          </a:solidFill>
                          <a:latin typeface="Calibri" pitchFamily="34" charset="0"/>
                          <a:ea typeface="Calibri" pitchFamily="34" charset="-122"/>
                          <a:cs typeface="Calibri" pitchFamily="34" charset="-120"/>
                        </a:rPr>
                        <a:t>17,000,000</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2B24"/>
                          </a:solidFill>
                          <a:latin typeface="Calibri" pitchFamily="34" charset="0"/>
                          <a:ea typeface="Calibri" pitchFamily="34" charset="-122"/>
                          <a:cs typeface="Calibri" pitchFamily="34" charset="-120"/>
                        </a:rPr>
                        <a:t>66,128,347</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0E3B2E"/>
                          </a:solidFill>
                          <a:latin typeface="Calibri" pitchFamily="34" charset="0"/>
                          <a:ea typeface="Calibri" pitchFamily="34" charset="-122"/>
                          <a:cs typeface="Calibri" pitchFamily="34" charset="-120"/>
                        </a:rPr>
                        <a:t>+49,128,347</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D9EFDF"/>
                    </a:solidFill>
                  </a:tcPr>
                </a:tc>
                <a:extLst>
                  <a:ext uri="{0D108BD9-81ED-4DB2-BD59-A6C34878D82A}">
                    <a16:rowId xmlns:a16="http://schemas.microsoft.com/office/drawing/2014/main" val="10001"/>
                  </a:ext>
                </a:extLst>
              </a:tr>
              <a:tr h="475488">
                <a:tc>
                  <a:txBody>
                    <a:bodyPr/>
                    <a:lstStyle/>
                    <a:p>
                      <a:pPr marL="0" indent="0">
                        <a:buNone/>
                      </a:pPr>
                      <a:r>
                        <a:rPr lang="en-US" sz="1100" dirty="0">
                          <a:solidFill>
                            <a:srgbClr val="1C2B24"/>
                          </a:solidFill>
                          <a:latin typeface="Calibri" pitchFamily="34" charset="0"/>
                          <a:ea typeface="Calibri" pitchFamily="34" charset="-122"/>
                          <a:cs typeface="Calibri" pitchFamily="34" charset="-120"/>
                        </a:rPr>
                        <a:t>Ivan Oblyakov</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2B24"/>
                          </a:solidFill>
                          <a:latin typeface="Calibri" pitchFamily="34" charset="0"/>
                          <a:ea typeface="Calibri" pitchFamily="34" charset="-122"/>
                          <a:cs typeface="Calibri" pitchFamily="34" charset="-120"/>
                        </a:rPr>
                        <a:t>10,000,000</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2B24"/>
                          </a:solidFill>
                          <a:latin typeface="Calibri" pitchFamily="34" charset="0"/>
                          <a:ea typeface="Calibri" pitchFamily="34" charset="-122"/>
                          <a:cs typeface="Calibri" pitchFamily="34" charset="-120"/>
                        </a:rPr>
                        <a:t>58,127,014</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0E3B2E"/>
                          </a:solidFill>
                          <a:latin typeface="Calibri" pitchFamily="34" charset="0"/>
                          <a:ea typeface="Calibri" pitchFamily="34" charset="-122"/>
                          <a:cs typeface="Calibri" pitchFamily="34" charset="-120"/>
                        </a:rPr>
                        <a:t>+48,127,014</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D9EFDF"/>
                    </a:solidFill>
                  </a:tcPr>
                </a:tc>
                <a:extLst>
                  <a:ext uri="{0D108BD9-81ED-4DB2-BD59-A6C34878D82A}">
                    <a16:rowId xmlns:a16="http://schemas.microsoft.com/office/drawing/2014/main" val="10002"/>
                  </a:ext>
                </a:extLst>
              </a:tr>
              <a:tr h="475488">
                <a:tc>
                  <a:txBody>
                    <a:bodyPr/>
                    <a:lstStyle/>
                    <a:p>
                      <a:pPr marL="0" indent="0">
                        <a:buNone/>
                      </a:pPr>
                      <a:r>
                        <a:rPr lang="en-US" sz="1100" dirty="0">
                          <a:solidFill>
                            <a:srgbClr val="1C2B24"/>
                          </a:solidFill>
                          <a:latin typeface="Calibri" pitchFamily="34" charset="0"/>
                          <a:ea typeface="Calibri" pitchFamily="34" charset="-122"/>
                          <a:cs typeface="Calibri" pitchFamily="34" charset="-120"/>
                        </a:rPr>
                        <a:t>Nazar Voloshyn</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2B24"/>
                          </a:solidFill>
                          <a:latin typeface="Calibri" pitchFamily="34" charset="0"/>
                          <a:ea typeface="Calibri" pitchFamily="34" charset="-122"/>
                          <a:cs typeface="Calibri" pitchFamily="34" charset="-120"/>
                        </a:rPr>
                        <a:t>5,000,000</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2B24"/>
                          </a:solidFill>
                          <a:latin typeface="Calibri" pitchFamily="34" charset="0"/>
                          <a:ea typeface="Calibri" pitchFamily="34" charset="-122"/>
                          <a:cs typeface="Calibri" pitchFamily="34" charset="-120"/>
                        </a:rPr>
                        <a:t>43,894,896</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0E3B2E"/>
                          </a:solidFill>
                          <a:latin typeface="Calibri" pitchFamily="34" charset="0"/>
                          <a:ea typeface="Calibri" pitchFamily="34" charset="-122"/>
                          <a:cs typeface="Calibri" pitchFamily="34" charset="-120"/>
                        </a:rPr>
                        <a:t>+38,894,896</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D9EFDF"/>
                    </a:solidFill>
                  </a:tcPr>
                </a:tc>
                <a:extLst>
                  <a:ext uri="{0D108BD9-81ED-4DB2-BD59-A6C34878D82A}">
                    <a16:rowId xmlns:a16="http://schemas.microsoft.com/office/drawing/2014/main" val="10003"/>
                  </a:ext>
                </a:extLst>
              </a:tr>
              <a:tr h="475488">
                <a:tc>
                  <a:txBody>
                    <a:bodyPr/>
                    <a:lstStyle/>
                    <a:p>
                      <a:pPr marL="0" indent="0">
                        <a:buNone/>
                      </a:pPr>
                      <a:r>
                        <a:rPr lang="en-US" sz="1100" dirty="0">
                          <a:solidFill>
                            <a:srgbClr val="1C2B24"/>
                          </a:solidFill>
                          <a:latin typeface="Calibri" pitchFamily="34" charset="0"/>
                          <a:ea typeface="Calibri" pitchFamily="34" charset="-122"/>
                          <a:cs typeface="Calibri" pitchFamily="34" charset="-120"/>
                        </a:rPr>
                        <a:t>Lewis Ferguson</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2B24"/>
                          </a:solidFill>
                          <a:latin typeface="Calibri" pitchFamily="34" charset="0"/>
                          <a:ea typeface="Calibri" pitchFamily="34" charset="-122"/>
                          <a:cs typeface="Calibri" pitchFamily="34" charset="-120"/>
                        </a:rPr>
                        <a:t>14,000,000</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2B24"/>
                          </a:solidFill>
                          <a:latin typeface="Calibri" pitchFamily="34" charset="0"/>
                          <a:ea typeface="Calibri" pitchFamily="34" charset="-122"/>
                          <a:cs typeface="Calibri" pitchFamily="34" charset="-120"/>
                        </a:rPr>
                        <a:t>50,268,671</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0E3B2E"/>
                          </a:solidFill>
                          <a:latin typeface="Calibri" pitchFamily="34" charset="0"/>
                          <a:ea typeface="Calibri" pitchFamily="34" charset="-122"/>
                          <a:cs typeface="Calibri" pitchFamily="34" charset="-120"/>
                        </a:rPr>
                        <a:t>+36,268,671</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D9EFDF"/>
                    </a:solidFill>
                  </a:tcPr>
                </a:tc>
                <a:extLst>
                  <a:ext uri="{0D108BD9-81ED-4DB2-BD59-A6C34878D82A}">
                    <a16:rowId xmlns:a16="http://schemas.microsoft.com/office/drawing/2014/main" val="10004"/>
                  </a:ext>
                </a:extLst>
              </a:tr>
              <a:tr h="475488">
                <a:tc>
                  <a:txBody>
                    <a:bodyPr/>
                    <a:lstStyle/>
                    <a:p>
                      <a:pPr marL="0" indent="0">
                        <a:buNone/>
                      </a:pPr>
                      <a:r>
                        <a:rPr lang="en-US" sz="1100" dirty="0">
                          <a:solidFill>
                            <a:srgbClr val="1C2B24"/>
                          </a:solidFill>
                          <a:latin typeface="Calibri" pitchFamily="34" charset="0"/>
                          <a:ea typeface="Calibri" pitchFamily="34" charset="-122"/>
                          <a:cs typeface="Calibri" pitchFamily="34" charset="-120"/>
                        </a:rPr>
                        <a:t>Jonathan David</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2B24"/>
                          </a:solidFill>
                          <a:latin typeface="Calibri" pitchFamily="34" charset="0"/>
                          <a:ea typeface="Calibri" pitchFamily="34" charset="-122"/>
                          <a:cs typeface="Calibri" pitchFamily="34" charset="-120"/>
                        </a:rPr>
                        <a:t>30,000,000</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2B24"/>
                          </a:solidFill>
                          <a:latin typeface="Calibri" pitchFamily="34" charset="0"/>
                          <a:ea typeface="Calibri" pitchFamily="34" charset="-122"/>
                          <a:cs typeface="Calibri" pitchFamily="34" charset="-120"/>
                        </a:rPr>
                        <a:t>66,099,811</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0E3B2E"/>
                          </a:solidFill>
                          <a:latin typeface="Calibri" pitchFamily="34" charset="0"/>
                          <a:ea typeface="Calibri" pitchFamily="34" charset="-122"/>
                          <a:cs typeface="Calibri" pitchFamily="34" charset="-120"/>
                        </a:rPr>
                        <a:t>+36,099,811</a:t>
                      </a:r>
                      <a:endParaRPr lang="en-US" sz="1100" dirty="0">
                        <a:latin typeface="Calibri" charset="0"/>
                        <a:ea typeface="Calibri" charset="0"/>
                        <a:cs typeface="Calibri" charset="0"/>
                      </a:endParaRPr>
                    </a:p>
                  </a:txBody>
                  <a:tcPr anchor="ctr">
                    <a:lnL w="9525" cap="flat" cmpd="sng" algn="ctr">
                      <a:solidFill>
                        <a:srgbClr val="2E5A47"/>
                      </a:solidFill>
                      <a:prstDash val="solid"/>
                      <a:round/>
                      <a:headEnd type="none" w="med" len="med"/>
                      <a:tailEnd type="none" w="med" len="med"/>
                    </a:lnL>
                    <a:lnR w="9525" cap="flat" cmpd="sng" algn="ctr">
                      <a:solidFill>
                        <a:srgbClr val="2E5A47"/>
                      </a:solidFill>
                      <a:prstDash val="solid"/>
                      <a:round/>
                      <a:headEnd type="none" w="med" len="med"/>
                      <a:tailEnd type="none" w="med" len="med"/>
                    </a:lnR>
                    <a:lnT w="9525" cap="flat" cmpd="sng" algn="ctr">
                      <a:solidFill>
                        <a:srgbClr val="2E5A47"/>
                      </a:solidFill>
                      <a:prstDash val="solid"/>
                      <a:round/>
                      <a:headEnd type="none" w="med" len="med"/>
                      <a:tailEnd type="none" w="med" len="med"/>
                    </a:lnT>
                    <a:lnB w="9525" cap="flat" cmpd="sng" algn="ctr">
                      <a:solidFill>
                        <a:srgbClr val="2E5A47"/>
                      </a:solidFill>
                      <a:prstDash val="solid"/>
                      <a:round/>
                      <a:headEnd type="none" w="med" len="med"/>
                      <a:tailEnd type="none" w="med" len="med"/>
                    </a:lnB>
                    <a:solidFill>
                      <a:srgbClr val="D9EFDF"/>
                    </a:solidFill>
                  </a:tcPr>
                </a:tc>
                <a:extLst>
                  <a:ext uri="{0D108BD9-81ED-4DB2-BD59-A6C34878D82A}">
                    <a16:rowId xmlns:a16="http://schemas.microsoft.com/office/drawing/2014/main" val="10005"/>
                  </a:ext>
                </a:extLst>
              </a:tr>
            </a:tbl>
          </a:graphicData>
        </a:graphic>
      </p:graphicFrame>
      <p:sp>
        <p:nvSpPr>
          <p:cNvPr id="14" name="Text 10"/>
          <p:cNvSpPr/>
          <p:nvPr/>
        </p:nvSpPr>
        <p:spPr>
          <a:xfrm>
            <a:off x="4206240" y="5257800"/>
            <a:ext cx="7360920" cy="502920"/>
          </a:xfrm>
          <a:prstGeom prst="rect">
            <a:avLst/>
          </a:prstGeom>
          <a:noFill/>
          <a:ln/>
        </p:spPr>
        <p:txBody>
          <a:bodyPr wrap="square" lIns="0" tIns="0" rIns="0" bIns="0" rtlCol="0" anchor="ctr"/>
          <a:lstStyle/>
          <a:p>
            <a:pPr marL="0" indent="0">
              <a:lnSpc>
                <a:spcPct val="120000"/>
              </a:lnSpc>
              <a:buNone/>
            </a:pPr>
            <a:r>
              <a:rPr lang="en-US" sz="1100" i="1" dirty="0">
                <a:solidFill>
                  <a:srgbClr val="B9CDC1"/>
                </a:solidFill>
                <a:latin typeface="Calibri" pitchFamily="34" charset="0"/>
                <a:ea typeface="Calibri" pitchFamily="34" charset="-122"/>
                <a:cs typeface="Calibri" pitchFamily="34" charset="-120"/>
              </a:rPr>
              <a:t>These players' on-field output predicts a market value far above their current listed value — prime scouting targets under this model.</a:t>
            </a:r>
            <a:endParaRPr lang="en-US" sz="1100" dirty="0"/>
          </a:p>
        </p:txBody>
      </p:sp>
      <p:sp>
        <p:nvSpPr>
          <p:cNvPr id="15" name="Text 11"/>
          <p:cNvSpPr/>
          <p:nvPr/>
        </p:nvSpPr>
        <p:spPr>
          <a:xfrm>
            <a:off x="640080" y="6172200"/>
            <a:ext cx="10881360" cy="457200"/>
          </a:xfrm>
          <a:prstGeom prst="rect">
            <a:avLst/>
          </a:prstGeom>
          <a:noFill/>
          <a:ln/>
        </p:spPr>
        <p:txBody>
          <a:bodyPr wrap="square" lIns="0" tIns="0" rIns="0" bIns="0" rtlCol="0" anchor="ctr"/>
          <a:lstStyle/>
          <a:p>
            <a:pPr marL="0" indent="0">
              <a:buNone/>
            </a:pPr>
            <a:r>
              <a:rPr lang="en-US" sz="1050" i="1" dirty="0">
                <a:solidFill>
                  <a:srgbClr val="7E9689"/>
                </a:solidFill>
                <a:latin typeface="Calibri" pitchFamily="34" charset="0"/>
                <a:ea typeface="Calibri" pitchFamily="34" charset="-122"/>
                <a:cs typeface="Calibri" pitchFamily="34" charset="-120"/>
              </a:rPr>
              <a:t>Caveat: predictions rely on aggregate career totals rather than recent form, injuries, or contract context — use as a screening signal, not a final valuation.</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547</TotalTime>
  <Words>2121</Words>
  <Application>Microsoft Office PowerPoint</Application>
  <PresentationFormat>Widescreen</PresentationFormat>
  <Paragraphs>172</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Football Player Market Value</dc:title>
  <dc:subject>PptxGenJS Presentation</dc:subject>
  <dc:creator>Data Science Final Project</dc:creator>
  <cp:lastModifiedBy>グエンテェ フン</cp:lastModifiedBy>
  <cp:revision>3</cp:revision>
  <dcterms:created xsi:type="dcterms:W3CDTF">2026-07-09T03:16:44Z</dcterms:created>
  <dcterms:modified xsi:type="dcterms:W3CDTF">2026-07-09T13:25:13Z</dcterms:modified>
</cp:coreProperties>
</file>